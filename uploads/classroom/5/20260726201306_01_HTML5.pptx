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9" r:id="rId1"/>
  </p:sldMasterIdLst>
  <p:notesMasterIdLst>
    <p:notesMasterId r:id="rId65"/>
  </p:notesMasterIdLst>
  <p:handoutMasterIdLst>
    <p:handoutMasterId r:id="rId66"/>
  </p:handoutMasterIdLst>
  <p:sldIdLst>
    <p:sldId id="266" r:id="rId2"/>
    <p:sldId id="267" r:id="rId3"/>
    <p:sldId id="268" r:id="rId4"/>
    <p:sldId id="269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271" r:id="rId61"/>
    <p:sldId id="272" r:id="rId62"/>
    <p:sldId id="273" r:id="rId63"/>
    <p:sldId id="274" r:id="rId64"/>
  </p:sldIdLst>
  <p:sldSz cx="12192000" cy="6858000"/>
  <p:notesSz cx="6858000" cy="9777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2C1FE"/>
    <a:srgbClr val="A2FFA3"/>
    <a:srgbClr val="FFFF99"/>
    <a:srgbClr val="FFFF66"/>
    <a:srgbClr val="FCFEB9"/>
    <a:srgbClr val="CECECE"/>
    <a:srgbClr val="C1CEFF"/>
    <a:srgbClr val="D1D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702" autoAdjust="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500" y="107950"/>
            <a:ext cx="67945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defRPr/>
            </a:pPr>
            <a:r>
              <a:rPr lang="en-GB" sz="1400" dirty="0">
                <a:latin typeface="Calibri" pitchFamily="34" charset="0"/>
                <a:cs typeface="Calibri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400800" y="9364663"/>
            <a:ext cx="3937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CD84FD0-C685-4F9B-903D-3052DD2E7E12}" type="slidenum">
              <a:rPr lang="en-US" altLang="en-US" sz="1400"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558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notes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31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4175" y="854075"/>
            <a:ext cx="6089650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500" y="107950"/>
            <a:ext cx="67945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defRPr/>
            </a:pPr>
            <a:r>
              <a:rPr lang="en-GB" sz="1400" dirty="0">
                <a:latin typeface="Calibri" pitchFamily="34" charset="0"/>
                <a:cs typeface="Calibri" pitchFamily="34" charset="0"/>
              </a:rPr>
              <a:t>Asia Pacific University of Technology and Innovation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400800" y="9364663"/>
            <a:ext cx="3937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44BD90F-00B2-42D2-8617-3A7324E45697}" type="slidenum">
              <a:rPr lang="en-US" altLang="en-US" sz="1400"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831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854075"/>
            <a:ext cx="6089650" cy="34258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16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9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8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6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2380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13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1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6228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9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868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22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3013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43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884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06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977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4474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595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65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883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68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0247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545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4658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110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08860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068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650138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028350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908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10595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74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97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6189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01313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131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54520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8023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87759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3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/>
        </p:nvPicPr>
        <p:blipFill rotWithShape="1">
          <a:blip r:embed="rId43" cstate="print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 dirty="0"/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/>
        </p:nvSpPr>
        <p:spPr>
          <a:xfrm>
            <a:off x="39175" y="6588371"/>
            <a:ext cx="31815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CT050-3-2 Web Applications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HTML5</a:t>
            </a:r>
          </a:p>
        </p:txBody>
      </p:sp>
    </p:spTree>
    <p:extLst>
      <p:ext uri="{BB962C8B-B14F-4D97-AF65-F5344CB8AC3E}">
        <p14:creationId xmlns:p14="http://schemas.microsoft.com/office/powerpoint/2010/main" val="24524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59" r:id="rId40"/>
    <p:sldLayoutId id="2147483760" r:id="rId4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77A0-0C3B-284C-939B-E02696EF3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CT050-3-2 Web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HTML5</a:t>
            </a:r>
          </a:p>
        </p:txBody>
      </p:sp>
    </p:spTree>
    <p:extLst>
      <p:ext uri="{BB962C8B-B14F-4D97-AF65-F5344CB8AC3E}">
        <p14:creationId xmlns:p14="http://schemas.microsoft.com/office/powerpoint/2010/main" val="48197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Introduction to HTML &amp; HTML5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HTML5 Structure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Headers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Linking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Images</a:t>
            </a:r>
          </a:p>
          <a:p>
            <a:r>
              <a:rPr lang="en-US" altLang="en-US" sz="2800" dirty="0"/>
              <a:t>Special Characters and More Line Breaks</a:t>
            </a:r>
          </a:p>
          <a:p>
            <a:r>
              <a:rPr lang="en-US" altLang="en-US" sz="2800" dirty="0"/>
              <a:t>Unordered Lists</a:t>
            </a:r>
          </a:p>
          <a:p>
            <a:r>
              <a:rPr lang="en-US" altLang="en-US" sz="2800" dirty="0"/>
              <a:t>Nested and Ordered Lists</a:t>
            </a:r>
          </a:p>
          <a:p>
            <a:r>
              <a:rPr lang="en-US" altLang="en-US" sz="2800" dirty="0"/>
              <a:t>Basic Tables</a:t>
            </a:r>
          </a:p>
          <a:p>
            <a:r>
              <a:rPr lang="en-US" altLang="en-US" sz="2800" dirty="0"/>
              <a:t>Basic Forms</a:t>
            </a:r>
          </a:p>
          <a:p>
            <a:pPr>
              <a:lnSpc>
                <a:spcPct val="80000"/>
              </a:lnSpc>
            </a:pPr>
            <a:endParaRPr lang="en-US" altLang="en-US" sz="2800" dirty="0"/>
          </a:p>
          <a:p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40C68-BBCA-9860-66B5-2E550B49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&amp; Structure of The Lesson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271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b="1" dirty="0">
                <a:latin typeface="Century Gothic" panose="020B0502020202020204" pitchFamily="34" charset="0"/>
                <a:ea typeface="新細明體" pitchFamily="18" charset="-120"/>
              </a:rPr>
              <a:t>At the end of this topic, You should be able to</a:t>
            </a:r>
          </a:p>
          <a:p>
            <a:pPr lvl="1">
              <a:lnSpc>
                <a:spcPct val="80000"/>
              </a:lnSpc>
            </a:pPr>
            <a:r>
              <a:rPr lang="en-US" altLang="en-US" sz="2300" dirty="0"/>
              <a:t>Understand important components of HTML5 documents.</a:t>
            </a:r>
          </a:p>
          <a:p>
            <a:pPr lvl="1">
              <a:lnSpc>
                <a:spcPct val="80000"/>
              </a:lnSpc>
            </a:pPr>
            <a:r>
              <a:rPr lang="en-US" altLang="en-US" sz="2300" dirty="0"/>
              <a:t>Use HTML5 to create Web pages.</a:t>
            </a:r>
          </a:p>
          <a:p>
            <a:pPr lvl="1">
              <a:lnSpc>
                <a:spcPct val="80000"/>
              </a:lnSpc>
            </a:pPr>
            <a:r>
              <a:rPr lang="en-US" altLang="en-US" sz="2300" dirty="0"/>
              <a:t>Add images to Web pages.</a:t>
            </a:r>
          </a:p>
          <a:p>
            <a:pPr lvl="1">
              <a:lnSpc>
                <a:spcPct val="80000"/>
              </a:lnSpc>
            </a:pPr>
            <a:r>
              <a:rPr lang="en-US" altLang="en-US" sz="2300" dirty="0"/>
              <a:t>Understand how to create and use hyperlinks to navigate Web pages. </a:t>
            </a:r>
          </a:p>
          <a:p>
            <a:pPr lvl="1">
              <a:lnSpc>
                <a:spcPct val="80000"/>
              </a:lnSpc>
            </a:pPr>
            <a:r>
              <a:rPr lang="en-US" altLang="en-US" sz="2300" dirty="0"/>
              <a:t>Mark up lists of information.</a:t>
            </a:r>
          </a:p>
          <a:p>
            <a:pPr lvl="1">
              <a:lnSpc>
                <a:spcPct val="80000"/>
              </a:lnSpc>
            </a:pPr>
            <a:r>
              <a:rPr lang="en-US" altLang="en-US" sz="2300" dirty="0"/>
              <a:t>Write basic codes in HTML5</a:t>
            </a:r>
          </a:p>
          <a:p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47393-B2A6-D3BB-1F32-CCA99768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12968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latin typeface="Century Gothic" panose="020B0502020202020204" pitchFamily="34" charset="0"/>
              </a:rPr>
              <a:t>If you have mastered this topic, </a:t>
            </a:r>
            <a:r>
              <a:rPr lang="en-US" altLang="en-US" sz="2000" b="1" dirty="0">
                <a:solidFill>
                  <a:srgbClr val="990000"/>
                </a:solidFill>
                <a:latin typeface="Century Gothic" panose="020B0502020202020204" pitchFamily="34" charset="0"/>
              </a:rPr>
              <a:t>you should be able to use the following terms correctly in your assignment</a:t>
            </a:r>
            <a:r>
              <a:rPr lang="en-US" altLang="en-US" sz="2000" b="1" dirty="0">
                <a:latin typeface="Century Gothic" panose="020B0502020202020204" pitchFamily="34" charset="0"/>
              </a:rPr>
              <a:t>:</a:t>
            </a:r>
          </a:p>
          <a:p>
            <a:pPr marL="0" indent="0">
              <a:buNone/>
            </a:pPr>
            <a:endParaRPr lang="en-US" altLang="en-US" sz="2000" b="1" dirty="0">
              <a:latin typeface="Century Gothic" panose="020B0502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000" dirty="0"/>
              <a:t>HTML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 err="1"/>
              <a:t>HyperText</a:t>
            </a:r>
            <a:r>
              <a:rPr lang="en-US" altLang="en-US" sz="1800" dirty="0"/>
              <a:t> Markup Language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The coded format used for creating hypertext documents on the World Wide Web and controlling how information is displayed</a:t>
            </a:r>
          </a:p>
          <a:p>
            <a:pPr lvl="1">
              <a:lnSpc>
                <a:spcPct val="80000"/>
              </a:lnSpc>
            </a:pPr>
            <a:endParaRPr lang="en-US" altLang="en-US" sz="18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HTML5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Current version of  </a:t>
            </a:r>
            <a:r>
              <a:rPr lang="en-US" altLang="en-US" sz="1800" dirty="0" err="1"/>
              <a:t>HyperText</a:t>
            </a:r>
            <a:r>
              <a:rPr lang="en-US" altLang="en-US" sz="1800" dirty="0"/>
              <a:t> Markup Language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Added new elements and features</a:t>
            </a:r>
          </a:p>
          <a:p>
            <a:endParaRPr lang="en-US" altLang="en-US" sz="2000" b="1" dirty="0">
              <a:latin typeface="Century Gothic" panose="020B0502020202020204" pitchFamily="34" charset="0"/>
            </a:endParaRP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49A263-9A1F-90FD-D8D6-EEC172C4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 You Must Be Able To Use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60761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Universal standard hypertext language which formats documents and incorporates hypertext links to other documents stored on the same or different computers.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Provides a set of tags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FF3300"/>
                </a:solidFill>
              </a:rPr>
              <a:t>&lt;</a:t>
            </a:r>
            <a:r>
              <a:rPr lang="en-US" altLang="en-US" dirty="0" err="1">
                <a:solidFill>
                  <a:srgbClr val="FF3300"/>
                </a:solidFill>
              </a:rPr>
              <a:t>img</a:t>
            </a:r>
            <a:r>
              <a:rPr lang="en-US" altLang="en-US" dirty="0">
                <a:solidFill>
                  <a:srgbClr val="FF3300"/>
                </a:solidFill>
              </a:rPr>
              <a:t>&gt;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FF3300"/>
                </a:solidFill>
              </a:rPr>
              <a:t>&lt;font&gt;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FF3300"/>
                </a:solidFill>
              </a:rPr>
              <a:t>&lt;p&gt;</a:t>
            </a:r>
            <a:r>
              <a:rPr lang="en-US" altLang="en-US" dirty="0"/>
              <a:t> , </a:t>
            </a:r>
            <a:r>
              <a:rPr lang="en-US" altLang="en-US" dirty="0">
                <a:solidFill>
                  <a:srgbClr val="FF3300"/>
                </a:solidFill>
              </a:rPr>
              <a:t>&lt;b&gt;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Does not provide facility to define new tags.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to HTML</a:t>
            </a:r>
          </a:p>
        </p:txBody>
      </p:sp>
    </p:spTree>
    <p:extLst>
      <p:ext uri="{BB962C8B-B14F-4D97-AF65-F5344CB8AC3E}">
        <p14:creationId xmlns:p14="http://schemas.microsoft.com/office/powerpoint/2010/main" val="175350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Introduction to HTML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985963" y="2609851"/>
            <a:ext cx="8210550" cy="3190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2566989" y="2962276"/>
            <a:ext cx="6981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205038" y="3619500"/>
            <a:ext cx="784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/>
              <a:t>&lt;h1 align=“left”&gt;Example Heading&lt;/h1&gt;</a:t>
            </a: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2627313" y="2947988"/>
            <a:ext cx="588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Tag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Name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3424238" y="294957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Attribute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Name</a:t>
            </a:r>
          </a:p>
        </p:txBody>
      </p:sp>
      <p:sp>
        <p:nvSpPr>
          <p:cNvPr id="173065" name="Text Box 9"/>
          <p:cNvSpPr txBox="1">
            <a:spLocks noChangeArrowheads="1"/>
          </p:cNvSpPr>
          <p:nvPr/>
        </p:nvSpPr>
        <p:spPr bwMode="auto">
          <a:xfrm>
            <a:off x="4492625" y="2949575"/>
            <a:ext cx="750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Attribute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Value</a:t>
            </a:r>
          </a:p>
        </p:txBody>
      </p:sp>
      <p:sp>
        <p:nvSpPr>
          <p:cNvPr id="173066" name="AutoShape 10"/>
          <p:cNvSpPr>
            <a:spLocks/>
          </p:cNvSpPr>
          <p:nvPr/>
        </p:nvSpPr>
        <p:spPr bwMode="auto">
          <a:xfrm rot="-5400000">
            <a:off x="6009482" y="1662907"/>
            <a:ext cx="195263" cy="7086600"/>
          </a:xfrm>
          <a:prstGeom prst="leftBrace">
            <a:avLst>
              <a:gd name="adj1" fmla="val 302438"/>
              <a:gd name="adj2" fmla="val 5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5591176" y="5456239"/>
            <a:ext cx="1198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HTML Element</a:t>
            </a:r>
          </a:p>
        </p:txBody>
      </p:sp>
      <p:sp>
        <p:nvSpPr>
          <p:cNvPr id="173068" name="AutoShape 12"/>
          <p:cNvSpPr>
            <a:spLocks/>
          </p:cNvSpPr>
          <p:nvPr/>
        </p:nvSpPr>
        <p:spPr bwMode="auto">
          <a:xfrm rot="-5400000">
            <a:off x="4206082" y="3336132"/>
            <a:ext cx="176212" cy="1800225"/>
          </a:xfrm>
          <a:prstGeom prst="leftBrace">
            <a:avLst>
              <a:gd name="adj1" fmla="val 85135"/>
              <a:gd name="adj2" fmla="val 5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3069" name="Text Box 13"/>
          <p:cNvSpPr txBox="1">
            <a:spLocks noChangeArrowheads="1"/>
          </p:cNvSpPr>
          <p:nvPr/>
        </p:nvSpPr>
        <p:spPr bwMode="auto">
          <a:xfrm>
            <a:off x="3963989" y="4343400"/>
            <a:ext cx="7508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Attribute</a:t>
            </a:r>
          </a:p>
        </p:txBody>
      </p:sp>
      <p:sp>
        <p:nvSpPr>
          <p:cNvPr id="173070" name="AutoShape 14"/>
          <p:cNvSpPr>
            <a:spLocks/>
          </p:cNvSpPr>
          <p:nvPr/>
        </p:nvSpPr>
        <p:spPr bwMode="auto">
          <a:xfrm rot="-5400000">
            <a:off x="3902870" y="3404395"/>
            <a:ext cx="138113" cy="2657475"/>
          </a:xfrm>
          <a:prstGeom prst="leftBrace">
            <a:avLst>
              <a:gd name="adj1" fmla="val 160344"/>
              <a:gd name="adj2" fmla="val 5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3071" name="Text Box 15"/>
          <p:cNvSpPr txBox="1">
            <a:spLocks noChangeArrowheads="1"/>
          </p:cNvSpPr>
          <p:nvPr/>
        </p:nvSpPr>
        <p:spPr bwMode="auto">
          <a:xfrm>
            <a:off x="3616326" y="4868864"/>
            <a:ext cx="8112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Start Tag</a:t>
            </a:r>
          </a:p>
        </p:txBody>
      </p:sp>
      <p:sp>
        <p:nvSpPr>
          <p:cNvPr id="173072" name="AutoShape 16"/>
          <p:cNvSpPr>
            <a:spLocks/>
          </p:cNvSpPr>
          <p:nvPr/>
        </p:nvSpPr>
        <p:spPr bwMode="auto">
          <a:xfrm rot="-5400000">
            <a:off x="7023894" y="2658269"/>
            <a:ext cx="119062" cy="3124200"/>
          </a:xfrm>
          <a:prstGeom prst="leftBrace">
            <a:avLst>
              <a:gd name="adj1" fmla="val 218668"/>
              <a:gd name="adj2" fmla="val 5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3073" name="Text Box 17"/>
          <p:cNvSpPr txBox="1">
            <a:spLocks noChangeArrowheads="1"/>
          </p:cNvSpPr>
          <p:nvPr/>
        </p:nvSpPr>
        <p:spPr bwMode="auto">
          <a:xfrm>
            <a:off x="6432551" y="4384675"/>
            <a:ext cx="13176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Affected Content</a:t>
            </a:r>
          </a:p>
        </p:txBody>
      </p:sp>
      <p:sp>
        <p:nvSpPr>
          <p:cNvPr id="173074" name="AutoShape 18"/>
          <p:cNvSpPr>
            <a:spLocks/>
          </p:cNvSpPr>
          <p:nvPr/>
        </p:nvSpPr>
        <p:spPr bwMode="auto">
          <a:xfrm rot="-5400000">
            <a:off x="9122569" y="3813969"/>
            <a:ext cx="204788" cy="857250"/>
          </a:xfrm>
          <a:prstGeom prst="leftBrace">
            <a:avLst>
              <a:gd name="adj1" fmla="val 34884"/>
              <a:gd name="adj2" fmla="val 5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3075" name="Text Box 19"/>
          <p:cNvSpPr txBox="1">
            <a:spLocks noChangeArrowheads="1"/>
          </p:cNvSpPr>
          <p:nvPr/>
        </p:nvSpPr>
        <p:spPr bwMode="auto">
          <a:xfrm>
            <a:off x="8842376" y="4443414"/>
            <a:ext cx="758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End Tag</a:t>
            </a:r>
          </a:p>
        </p:txBody>
      </p:sp>
      <p:sp>
        <p:nvSpPr>
          <p:cNvPr id="173076" name="AutoShape 20"/>
          <p:cNvSpPr>
            <a:spLocks noChangeArrowheads="1"/>
          </p:cNvSpPr>
          <p:nvPr/>
        </p:nvSpPr>
        <p:spPr bwMode="auto">
          <a:xfrm>
            <a:off x="2852739" y="3381376"/>
            <a:ext cx="66675" cy="333375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3077" name="AutoShape 21"/>
          <p:cNvSpPr>
            <a:spLocks noChangeArrowheads="1"/>
          </p:cNvSpPr>
          <p:nvPr/>
        </p:nvSpPr>
        <p:spPr bwMode="auto">
          <a:xfrm>
            <a:off x="3759201" y="3392489"/>
            <a:ext cx="66675" cy="333375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3078" name="AutoShape 22"/>
          <p:cNvSpPr>
            <a:spLocks noChangeArrowheads="1"/>
          </p:cNvSpPr>
          <p:nvPr/>
        </p:nvSpPr>
        <p:spPr bwMode="auto">
          <a:xfrm>
            <a:off x="4816476" y="3392489"/>
            <a:ext cx="66675" cy="333375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73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3" grpId="0"/>
      <p:bldP spid="173064" grpId="0"/>
      <p:bldP spid="173065" grpId="0"/>
      <p:bldP spid="173066" grpId="0" animBg="1"/>
      <p:bldP spid="173067" grpId="0"/>
      <p:bldP spid="173068" grpId="0" animBg="1"/>
      <p:bldP spid="173069" grpId="0"/>
      <p:bldP spid="173070" grpId="0" animBg="1"/>
      <p:bldP spid="173071" grpId="0"/>
      <p:bldP spid="173072" grpId="0" animBg="1"/>
      <p:bldP spid="173073" grpId="0"/>
      <p:bldP spid="173074" grpId="0" animBg="1"/>
      <p:bldP spid="173075" grpId="0"/>
      <p:bldP spid="173076" grpId="0" animBg="1"/>
      <p:bldP spid="173077" grpId="0" animBg="1"/>
      <p:bldP spid="1730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/>
              <a:t>HTML5 is the new standard for HTML.</a:t>
            </a:r>
          </a:p>
          <a:p>
            <a:pPr>
              <a:buFontTx/>
              <a:buChar char="-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/>
              <a:t>HTML5 is still a work in progress, but most modern browsers have some HTML5 support.</a:t>
            </a:r>
          </a:p>
          <a:p>
            <a:pPr>
              <a:buFontTx/>
              <a:buChar char="-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/>
              <a:t>HTML5 is a cooperation between the World Wide Web Consortium (W3C) and the Web Hypertext Application Technology Working Group (WHATWG).</a:t>
            </a:r>
          </a:p>
          <a:p>
            <a:pPr>
              <a:buFontTx/>
              <a:buChar char="-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US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Introduction to HTML5</a:t>
            </a:r>
          </a:p>
        </p:txBody>
      </p:sp>
    </p:spTree>
    <p:extLst>
      <p:ext uri="{BB962C8B-B14F-4D97-AF65-F5344CB8AC3E}">
        <p14:creationId xmlns:p14="http://schemas.microsoft.com/office/powerpoint/2010/main" val="326812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/>
              <a:t>Some rules for HTML5 :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2800">
                <a:solidFill>
                  <a:srgbClr val="DC2300"/>
                </a:solidFill>
              </a:rPr>
              <a:t>&gt;</a:t>
            </a:r>
            <a:r>
              <a:rPr lang="en-GB" altLang="en-US" sz="2800"/>
              <a:t> New features should be based on HTML,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2800"/>
              <a:t>   CSS, DOM, and JavaScript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2800">
                <a:solidFill>
                  <a:srgbClr val="DC2300"/>
                </a:solidFill>
              </a:rPr>
              <a:t>&gt;</a:t>
            </a:r>
            <a:r>
              <a:rPr lang="en-GB" altLang="en-US" sz="2800"/>
              <a:t> Reduce the need for external plugins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2800">
                <a:solidFill>
                  <a:srgbClr val="DC2300"/>
                </a:solidFill>
              </a:rPr>
              <a:t>&gt;</a:t>
            </a:r>
            <a:r>
              <a:rPr lang="en-GB" altLang="en-US" sz="2800"/>
              <a:t> Better error handling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2800">
                <a:solidFill>
                  <a:srgbClr val="DC2300"/>
                </a:solidFill>
              </a:rPr>
              <a:t>&gt;</a:t>
            </a:r>
            <a:r>
              <a:rPr lang="en-GB" altLang="en-US" sz="2800"/>
              <a:t> More markup to replace scripting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altLang="en-US" sz="2800">
                <a:solidFill>
                  <a:srgbClr val="DC2300"/>
                </a:solidFill>
              </a:rPr>
              <a:t>&gt;</a:t>
            </a:r>
            <a:r>
              <a:rPr lang="en-GB" altLang="en-US" sz="2800"/>
              <a:t> HTML5 should be device independent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US" alt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Introduction to HTML5</a:t>
            </a:r>
          </a:p>
        </p:txBody>
      </p:sp>
    </p:spTree>
    <p:extLst>
      <p:ext uri="{BB962C8B-B14F-4D97-AF65-F5344CB8AC3E}">
        <p14:creationId xmlns:p14="http://schemas.microsoft.com/office/powerpoint/2010/main" val="3309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New features :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800" dirty="0">
                <a:solidFill>
                  <a:srgbClr val="DC2300"/>
                </a:solidFill>
              </a:rPr>
              <a:t>&gt; </a:t>
            </a:r>
            <a:r>
              <a:rPr lang="en-GB" altLang="en-US" sz="2800" dirty="0"/>
              <a:t>Canvas element for drawing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800" dirty="0">
                <a:solidFill>
                  <a:srgbClr val="DC2300"/>
                </a:solidFill>
              </a:rPr>
              <a:t>&gt;</a:t>
            </a:r>
            <a:r>
              <a:rPr lang="en-GB" altLang="en-US" sz="2800" dirty="0"/>
              <a:t> Video/audio elements for media playback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800" dirty="0">
                <a:solidFill>
                  <a:srgbClr val="DC2300"/>
                </a:solidFill>
              </a:rPr>
              <a:t>&gt;</a:t>
            </a:r>
            <a:r>
              <a:rPr lang="en-GB" altLang="en-US" sz="2800" dirty="0"/>
              <a:t> Better support for local offline storage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800" dirty="0">
                <a:solidFill>
                  <a:srgbClr val="DC2300"/>
                </a:solidFill>
              </a:rPr>
              <a:t>&gt;</a:t>
            </a:r>
            <a:r>
              <a:rPr lang="en-GB" altLang="en-US" sz="2800" dirty="0"/>
              <a:t> New content specific elements like </a:t>
            </a:r>
            <a:r>
              <a:rPr lang="en-GB" altLang="en-US" sz="2800" b="1" dirty="0"/>
              <a:t>article,</a:t>
            </a:r>
            <a:br>
              <a:rPr lang="en-GB" altLang="en-US" sz="2800" b="1" dirty="0"/>
            </a:br>
            <a:r>
              <a:rPr lang="en-GB" altLang="en-US" sz="2800" b="1" dirty="0"/>
              <a:t>   footer, header, </a:t>
            </a:r>
            <a:r>
              <a:rPr lang="en-GB" altLang="en-US" sz="2800" b="1" dirty="0" err="1"/>
              <a:t>nav</a:t>
            </a:r>
            <a:r>
              <a:rPr lang="en-GB" altLang="en-US" sz="2800" b="1" dirty="0"/>
              <a:t>, section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800" dirty="0">
                <a:solidFill>
                  <a:srgbClr val="DC2300"/>
                </a:solidFill>
              </a:rPr>
              <a:t>&gt;</a:t>
            </a:r>
            <a:r>
              <a:rPr lang="en-GB" altLang="en-US" sz="2800" dirty="0"/>
              <a:t> New form controls like </a:t>
            </a:r>
            <a:r>
              <a:rPr lang="en-GB" altLang="en-US" sz="2800" b="1" dirty="0"/>
              <a:t>calendar, date, time,</a:t>
            </a:r>
            <a:br>
              <a:rPr lang="en-GB" altLang="en-US" sz="2800" b="1" dirty="0"/>
            </a:br>
            <a:r>
              <a:rPr lang="en-GB" altLang="en-US" sz="2800" b="1" dirty="0"/>
              <a:t>   email, </a:t>
            </a:r>
            <a:r>
              <a:rPr lang="en-GB" altLang="en-US" sz="2800" b="1" dirty="0" err="1"/>
              <a:t>url</a:t>
            </a:r>
            <a:r>
              <a:rPr lang="en-GB" altLang="en-US" sz="2800" b="1" dirty="0"/>
              <a:t>, search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Introduction to HTML5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69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4313" y="1420813"/>
            <a:ext cx="6113462" cy="4506912"/>
          </a:xfr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New Elements in HTML5</a:t>
            </a:r>
          </a:p>
        </p:txBody>
      </p:sp>
    </p:spTree>
    <p:extLst>
      <p:ext uri="{BB962C8B-B14F-4D97-AF65-F5344CB8AC3E}">
        <p14:creationId xmlns:p14="http://schemas.microsoft.com/office/powerpoint/2010/main" val="3989587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3575" y="1700213"/>
            <a:ext cx="8229600" cy="4525962"/>
          </a:xfrm>
        </p:spPr>
        <p:txBody>
          <a:bodyPr/>
          <a:lstStyle/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400" dirty="0"/>
              <a:t>The DOCTYPE declaration in XHTML :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endParaRPr lang="en-GB" altLang="en-US" sz="2400" dirty="0"/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endParaRPr lang="en-GB" altLang="en-US" sz="2400" dirty="0"/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endParaRPr lang="en-GB" altLang="en-US" sz="2400" dirty="0"/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r>
              <a:rPr lang="en-GB" altLang="en-US" sz="2400" dirty="0"/>
              <a:t>Previous versions of HTML defined a lot of </a:t>
            </a:r>
            <a:r>
              <a:rPr lang="en-GB" altLang="en-US" sz="2400" dirty="0" err="1"/>
              <a:t>doctypes</a:t>
            </a:r>
            <a:r>
              <a:rPr lang="en-GB" altLang="en-US" sz="2400" dirty="0"/>
              <a:t>, and choosing the right one could be tricky. In HTML5, there is only one DOCTYPE :</a:t>
            </a:r>
          </a:p>
          <a:p>
            <a:pPr marL="0" indent="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/>
            </a:pPr>
            <a:endParaRPr lang="en-GB" altLang="en-US" sz="2400" dirty="0"/>
          </a:p>
          <a:p>
            <a:pPr>
              <a:defRPr/>
            </a:pPr>
            <a:endParaRPr lang="en-US" dirty="0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Times New Roman" panose="02020603050405020304" pitchFamily="18" charset="0"/>
              </a:rPr>
              <a:t>DOCTYPE in HTML5</a:t>
            </a:r>
            <a:endParaRPr lang="en-US" altLang="en-US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2009775" y="2276475"/>
            <a:ext cx="8077200" cy="685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&lt;!DOCTYPE html PUBLIC "-//W3C//DTD XHTML 1.0 Transitional//EN"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"http://www.w3.org/TR/xhtml1/DTD/xhtml1-transitional.dtd"&gt;</a:t>
            </a:r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2009775" y="4965700"/>
            <a:ext cx="8077200" cy="38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&lt;!DOCTYPE html&gt;</a:t>
            </a:r>
          </a:p>
        </p:txBody>
      </p:sp>
    </p:spTree>
    <p:extLst>
      <p:ext uri="{BB962C8B-B14F-4D97-AF65-F5344CB8AC3E}">
        <p14:creationId xmlns:p14="http://schemas.microsoft.com/office/powerpoint/2010/main" val="2817151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HTML5 documents</a:t>
            </a:r>
          </a:p>
          <a:p>
            <a:pPr lvl="1" eaLnBrk="1" hangingPunct="1"/>
            <a:r>
              <a:rPr lang="en-US" altLang="en-US"/>
              <a:t>Source-code form</a:t>
            </a:r>
          </a:p>
          <a:p>
            <a:pPr lvl="1" eaLnBrk="1" hangingPunct="1"/>
            <a:r>
              <a:rPr lang="en-US" altLang="en-US"/>
              <a:t>Text editor (e.g. Notepad, Wordpad, emacs, etc.)</a:t>
            </a:r>
          </a:p>
          <a:p>
            <a:pPr lvl="1" eaLnBrk="1" hangingPunct="1"/>
            <a:r>
              <a:rPr lang="en-US" altLang="en-US" sz="2500">
                <a:latin typeface="Lucida Console" panose="020B0609040504020204" pitchFamily="49" charset="0"/>
              </a:rPr>
              <a:t>.html</a:t>
            </a:r>
            <a:r>
              <a:rPr lang="en-US" altLang="en-US"/>
              <a:t> or </a:t>
            </a:r>
            <a:r>
              <a:rPr lang="en-US" altLang="en-US" sz="2500">
                <a:latin typeface="Lucida Console" panose="020B0609040504020204" pitchFamily="49" charset="0"/>
              </a:rPr>
              <a:t>.htm</a:t>
            </a:r>
            <a:r>
              <a:rPr lang="en-US" altLang="en-US"/>
              <a:t> file-name extension</a:t>
            </a:r>
          </a:p>
          <a:p>
            <a:pPr lvl="1" eaLnBrk="1" hangingPunct="1"/>
            <a:r>
              <a:rPr lang="en-US" altLang="en-US"/>
              <a:t>Web server</a:t>
            </a:r>
          </a:p>
          <a:p>
            <a:pPr lvl="2" eaLnBrk="1" hangingPunct="1"/>
            <a:r>
              <a:rPr lang="en-US" altLang="en-US"/>
              <a:t>Stores HTML5 documents</a:t>
            </a:r>
          </a:p>
          <a:p>
            <a:pPr lvl="1" eaLnBrk="1" hangingPunct="1"/>
            <a:r>
              <a:rPr lang="en-US" altLang="en-US"/>
              <a:t>Web browser</a:t>
            </a:r>
          </a:p>
          <a:p>
            <a:pPr lvl="2" eaLnBrk="1" hangingPunct="1"/>
            <a:r>
              <a:rPr lang="en-US" altLang="en-US"/>
              <a:t>Requests HTML5 documents</a:t>
            </a:r>
          </a:p>
          <a:p>
            <a:pPr eaLnBrk="1" hangingPunct="1"/>
            <a:endParaRPr lang="en-US" alt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Editing HTML5</a:t>
            </a:r>
          </a:p>
        </p:txBody>
      </p:sp>
    </p:spTree>
    <p:extLst>
      <p:ext uri="{BB962C8B-B14F-4D97-AF65-F5344CB8AC3E}">
        <p14:creationId xmlns:p14="http://schemas.microsoft.com/office/powerpoint/2010/main" val="3042557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HTML5 comments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Start with </a:t>
            </a:r>
            <a:r>
              <a:rPr lang="en-US" altLang="en-US" sz="1800">
                <a:latin typeface="Lucida Console" panose="020B0609040504020204" pitchFamily="49" charset="0"/>
              </a:rPr>
              <a:t>&lt;!--</a:t>
            </a:r>
            <a:r>
              <a:rPr lang="en-US" altLang="en-US" sz="2000"/>
              <a:t> and end with </a:t>
            </a:r>
            <a:r>
              <a:rPr lang="en-US" altLang="en-US" sz="1800">
                <a:latin typeface="Lucida Console" panose="020B0609040504020204" pitchFamily="49" charset="0"/>
              </a:rPr>
              <a:t>--&gt;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latin typeface="Lucida Console" panose="020B0609040504020204" pitchFamily="49" charset="0"/>
              </a:rPr>
              <a:t>html</a:t>
            </a:r>
            <a:r>
              <a:rPr lang="en-US" altLang="en-US" sz="2000"/>
              <a:t> element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>
                <a:latin typeface="Lucida Console" panose="020B0609040504020204" pitchFamily="49" charset="0"/>
              </a:rPr>
              <a:t>head</a:t>
            </a:r>
            <a:r>
              <a:rPr lang="en-US" altLang="en-US" sz="1800"/>
              <a:t> element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600"/>
              <a:t>Head section</a:t>
            </a:r>
          </a:p>
          <a:p>
            <a:pPr lvl="4" eaLnBrk="1" hangingPunct="1">
              <a:lnSpc>
                <a:spcPct val="90000"/>
              </a:lnSpc>
            </a:pPr>
            <a:r>
              <a:rPr lang="en-US" altLang="en-US" sz="1600"/>
              <a:t>Title of the document</a:t>
            </a:r>
          </a:p>
          <a:p>
            <a:pPr lvl="4" eaLnBrk="1" hangingPunct="1">
              <a:lnSpc>
                <a:spcPct val="90000"/>
              </a:lnSpc>
            </a:pPr>
            <a:r>
              <a:rPr lang="en-US" altLang="en-US" sz="1600"/>
              <a:t>Style sheets and scripts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>
                <a:latin typeface="Lucida Console" panose="020B0609040504020204" pitchFamily="49" charset="0"/>
              </a:rPr>
              <a:t>body</a:t>
            </a:r>
            <a:r>
              <a:rPr lang="en-US" altLang="en-US" sz="1800"/>
              <a:t> element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600"/>
              <a:t>Body section</a:t>
            </a:r>
          </a:p>
          <a:p>
            <a:pPr lvl="4" eaLnBrk="1" hangingPunct="1">
              <a:lnSpc>
                <a:spcPct val="90000"/>
              </a:lnSpc>
            </a:pPr>
            <a:r>
              <a:rPr lang="en-US" altLang="en-US" sz="1600"/>
              <a:t>Page’s content the browser displays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Start tag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>
                <a:latin typeface="Lucida Console" panose="020B0609040504020204" pitchFamily="49" charset="0"/>
              </a:rPr>
              <a:t>attributes</a:t>
            </a:r>
            <a:r>
              <a:rPr lang="en-US" altLang="en-US" sz="1800"/>
              <a:t> (provide additional information about an element)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400">
                <a:latin typeface="Lucida Console" panose="020B0609040504020204" pitchFamily="49" charset="0"/>
              </a:rPr>
              <a:t>name</a:t>
            </a:r>
            <a:r>
              <a:rPr lang="en-US" altLang="en-US" sz="1600"/>
              <a:t> and </a:t>
            </a:r>
            <a:r>
              <a:rPr lang="en-US" altLang="en-US" sz="1400">
                <a:latin typeface="Lucida Console" panose="020B0609040504020204" pitchFamily="49" charset="0"/>
              </a:rPr>
              <a:t>value</a:t>
            </a:r>
            <a:r>
              <a:rPr lang="en-US" altLang="en-US" sz="1600"/>
              <a:t> (separated by an equal sign)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End tag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First HTML5 Example</a:t>
            </a:r>
          </a:p>
        </p:txBody>
      </p:sp>
    </p:spTree>
    <p:extLst>
      <p:ext uri="{BB962C8B-B14F-4D97-AF65-F5344CB8AC3E}">
        <p14:creationId xmlns:p14="http://schemas.microsoft.com/office/powerpoint/2010/main" val="2761095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First HTML5 Example</a:t>
            </a:r>
          </a:p>
        </p:txBody>
      </p:sp>
      <p:sp>
        <p:nvSpPr>
          <p:cNvPr id="28675" name="Rectangle 7"/>
          <p:cNvSpPr>
            <a:spLocks noChangeArrowheads="1"/>
          </p:cNvSpPr>
          <p:nvPr/>
        </p:nvSpPr>
        <p:spPr bwMode="auto">
          <a:xfrm>
            <a:off x="2063751" y="1508126"/>
            <a:ext cx="8226425" cy="4524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/>
              <a:t>&lt;html&gt;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7030A0"/>
                </a:solidFill>
              </a:rPr>
              <a:t>&lt;head&gt;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&lt;meta 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</a:t>
            </a:r>
            <a:r>
              <a:rPr lang="en-US" altLang="en-US" sz="1600" noProof="1">
                <a:solidFill>
                  <a:srgbClr val="00B050"/>
                </a:solidFill>
              </a:rPr>
              <a:t>&lt;title&gt;HTML5 sure is fun&lt;/title&gt;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7030A0"/>
                </a:solidFill>
              </a:rPr>
              <a:t>&lt;/head&gt;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7030A0"/>
                </a:solidFill>
              </a:rPr>
              <a:t>&lt;body&gt;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B050"/>
                </a:solidFill>
              </a:rPr>
              <a:t>&lt;p&gt;HTML5 is fun!!&lt;/p&gt;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7030A0"/>
                </a:solidFill>
              </a:rPr>
              <a:t>&lt;/body&gt;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33226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HTML is not case sensitive, HTML5 is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00"/>
                </a:solidFill>
              </a:rPr>
              <a:t>&lt;b&gt;, &lt;B&gt;</a:t>
            </a:r>
            <a:r>
              <a:rPr lang="en-US" altLang="en-US" sz="2000"/>
              <a:t> are the same under HTML.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00"/>
                </a:solidFill>
              </a:rPr>
              <a:t>&lt;p ALIGN=“center”&gt;</a:t>
            </a:r>
            <a:r>
              <a:rPr lang="en-US" altLang="en-US" sz="2000"/>
              <a:t> and </a:t>
            </a:r>
            <a:r>
              <a:rPr lang="en-US" altLang="en-US" sz="2000" b="1">
                <a:solidFill>
                  <a:srgbClr val="FF0000"/>
                </a:solidFill>
              </a:rPr>
              <a:t>&lt;p align=“center”&gt;</a:t>
            </a:r>
            <a:r>
              <a:rPr lang="en-US" altLang="en-US" sz="2000"/>
              <a:t> are also the same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HTML/HTML5 attribute values may be case sensitive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00"/>
                </a:solidFill>
              </a:rPr>
              <a:t>&lt;img src=“test.gif”&gt;</a:t>
            </a:r>
            <a:r>
              <a:rPr lang="en-US" altLang="en-US" sz="2000"/>
              <a:t> is the same as </a:t>
            </a:r>
            <a:r>
              <a:rPr lang="en-US" altLang="en-US" sz="2000" b="1">
                <a:solidFill>
                  <a:srgbClr val="FF0000"/>
                </a:solidFill>
              </a:rPr>
              <a:t>&lt;img SRC=“test.gif”&gt;</a:t>
            </a:r>
            <a:r>
              <a:rPr lang="en-US" altLang="en-US" sz="2000"/>
              <a:t> under HTML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>
                <a:solidFill>
                  <a:srgbClr val="FF0000"/>
                </a:solidFill>
              </a:rPr>
              <a:t>&lt;img src=“test.gif”&gt;</a:t>
            </a:r>
            <a:r>
              <a:rPr lang="en-US" altLang="en-US" sz="2000"/>
              <a:t> may not be same as </a:t>
            </a:r>
            <a:r>
              <a:rPr lang="en-US" altLang="en-US" sz="2000" b="1">
                <a:solidFill>
                  <a:srgbClr val="FF0000"/>
                </a:solidFill>
              </a:rPr>
              <a:t>&lt;img src=“TEST.GIF”&gt; </a:t>
            </a:r>
            <a:r>
              <a:rPr lang="en-US" altLang="en-US" sz="2000"/>
              <a:t>in HTML5.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HTML5 elements should be nested not crossed.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Nested = Good </a:t>
            </a:r>
            <a:r>
              <a:rPr lang="en-US" altLang="en-US" sz="2000" b="1">
                <a:solidFill>
                  <a:srgbClr val="FF0000"/>
                </a:solidFill>
              </a:rPr>
              <a:t>&lt;b&gt;&lt;i&gt;</a:t>
            </a:r>
            <a:r>
              <a:rPr lang="en-US" altLang="en-US" sz="2000"/>
              <a:t>This is bold and italic</a:t>
            </a:r>
            <a:r>
              <a:rPr lang="en-US" altLang="en-US" sz="2000" b="1">
                <a:solidFill>
                  <a:srgbClr val="FF0000"/>
                </a:solidFill>
              </a:rPr>
              <a:t>&lt;/i&gt;&lt;/b&gt;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Crossed = Bad </a:t>
            </a:r>
            <a:r>
              <a:rPr lang="en-US" altLang="en-US" sz="2000" b="1">
                <a:solidFill>
                  <a:srgbClr val="FF0000"/>
                </a:solidFill>
              </a:rPr>
              <a:t>&lt;b&gt;&lt;i&gt;</a:t>
            </a:r>
            <a:r>
              <a:rPr lang="en-US" altLang="en-US" sz="2000"/>
              <a:t>Don’t do this</a:t>
            </a:r>
            <a:r>
              <a:rPr lang="en-US" altLang="en-US" sz="2000" b="1">
                <a:solidFill>
                  <a:srgbClr val="FF0000"/>
                </a:solidFill>
              </a:rPr>
              <a:t>&lt;/b&gt;&lt;/i&gt;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Rules of HTML5</a:t>
            </a:r>
          </a:p>
        </p:txBody>
      </p:sp>
    </p:spTree>
    <p:extLst>
      <p:ext uri="{BB962C8B-B14F-4D97-AF65-F5344CB8AC3E}">
        <p14:creationId xmlns:p14="http://schemas.microsoft.com/office/powerpoint/2010/main" val="343705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Six headers ( header elements)</a:t>
            </a:r>
          </a:p>
          <a:p>
            <a:pPr lvl="1" eaLnBrk="1" hangingPunct="1"/>
            <a:r>
              <a:rPr lang="en-US" altLang="en-US">
                <a:latin typeface="Lucida Console" panose="020B0609040504020204" pitchFamily="49" charset="0"/>
              </a:rPr>
              <a:t>h1</a:t>
            </a:r>
            <a:r>
              <a:rPr lang="en-US" altLang="en-US"/>
              <a:t> through </a:t>
            </a:r>
            <a:r>
              <a:rPr lang="en-US" altLang="en-US">
                <a:latin typeface="Lucida Console" panose="020B0609040504020204" pitchFamily="49" charset="0"/>
              </a:rPr>
              <a:t>h6</a:t>
            </a:r>
          </a:p>
          <a:p>
            <a:pPr eaLnBrk="1" hangingPunct="1"/>
            <a:endParaRPr lang="en-US" alt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Headers</a:t>
            </a:r>
          </a:p>
        </p:txBody>
      </p:sp>
    </p:spTree>
    <p:extLst>
      <p:ext uri="{BB962C8B-B14F-4D97-AF65-F5344CB8AC3E}">
        <p14:creationId xmlns:p14="http://schemas.microsoft.com/office/powerpoint/2010/main" val="3740304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Headers</a:t>
            </a:r>
          </a:p>
        </p:txBody>
      </p:sp>
      <p:sp>
        <p:nvSpPr>
          <p:cNvPr id="31747" name="Rectangle 9"/>
          <p:cNvSpPr>
            <a:spLocks noChangeArrowheads="1"/>
          </p:cNvSpPr>
          <p:nvPr/>
        </p:nvSpPr>
        <p:spPr bwMode="auto">
          <a:xfrm>
            <a:off x="1985964" y="1201739"/>
            <a:ext cx="8226425" cy="529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800000"/>
                </a:solidFill>
              </a:rPr>
              <a:t>&lt;html&gt;</a:t>
            </a:r>
            <a:endParaRPr lang="en-US" altLang="en-US" sz="14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meta </a:t>
            </a:r>
            <a:r>
              <a:rPr lang="en-US" altLang="en-US" sz="14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&lt;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&gt;Header&lt;/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h1</a:t>
            </a:r>
            <a:r>
              <a:rPr lang="en-US" altLang="en-US" sz="1400" noProof="1">
                <a:solidFill>
                  <a:srgbClr val="0000FF"/>
                </a:solidFill>
              </a:rPr>
              <a:t>&gt;Level 1 Header&lt;/</a:t>
            </a:r>
            <a:r>
              <a:rPr lang="en-US" altLang="en-US" sz="1400" noProof="1">
                <a:solidFill>
                  <a:srgbClr val="800000"/>
                </a:solidFill>
              </a:rPr>
              <a:t>h1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h2</a:t>
            </a:r>
            <a:r>
              <a:rPr lang="en-US" altLang="en-US" sz="1400" noProof="1">
                <a:solidFill>
                  <a:srgbClr val="0000FF"/>
                </a:solidFill>
              </a:rPr>
              <a:t>&gt;Level 2 Header&lt;/</a:t>
            </a:r>
            <a:r>
              <a:rPr lang="en-US" altLang="en-US" sz="1400" noProof="1">
                <a:solidFill>
                  <a:srgbClr val="800000"/>
                </a:solidFill>
              </a:rPr>
              <a:t>h2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h3</a:t>
            </a:r>
            <a:r>
              <a:rPr lang="en-US" altLang="en-US" sz="1400" noProof="1">
                <a:solidFill>
                  <a:srgbClr val="0000FF"/>
                </a:solidFill>
              </a:rPr>
              <a:t>&gt;Level 3 Header&lt;/</a:t>
            </a:r>
            <a:r>
              <a:rPr lang="en-US" altLang="en-US" sz="1400" noProof="1">
                <a:solidFill>
                  <a:srgbClr val="800000"/>
                </a:solidFill>
              </a:rPr>
              <a:t>h3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h4</a:t>
            </a:r>
            <a:r>
              <a:rPr lang="en-US" altLang="en-US" sz="1400" noProof="1">
                <a:solidFill>
                  <a:srgbClr val="0000FF"/>
                </a:solidFill>
              </a:rPr>
              <a:t>&gt;Level 4 Header&lt;/</a:t>
            </a:r>
            <a:r>
              <a:rPr lang="en-US" altLang="en-US" sz="1400" noProof="1">
                <a:solidFill>
                  <a:srgbClr val="800000"/>
                </a:solidFill>
              </a:rPr>
              <a:t>h4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h5</a:t>
            </a:r>
            <a:r>
              <a:rPr lang="en-US" altLang="en-US" sz="1400" noProof="1">
                <a:solidFill>
                  <a:srgbClr val="0000FF"/>
                </a:solidFill>
              </a:rPr>
              <a:t>&gt;Level 5 Header&lt;/</a:t>
            </a:r>
            <a:r>
              <a:rPr lang="en-US" altLang="en-US" sz="1400" noProof="1">
                <a:solidFill>
                  <a:srgbClr val="800000"/>
                </a:solidFill>
              </a:rPr>
              <a:t>h5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h6</a:t>
            </a:r>
            <a:r>
              <a:rPr lang="en-US" altLang="en-US" sz="1400" noProof="1">
                <a:solidFill>
                  <a:srgbClr val="0000FF"/>
                </a:solidFill>
              </a:rPr>
              <a:t>&gt;Level 6 Header&lt;/</a:t>
            </a:r>
            <a:r>
              <a:rPr lang="en-US" altLang="en-US" sz="1400" noProof="1">
                <a:solidFill>
                  <a:srgbClr val="800000"/>
                </a:solidFill>
              </a:rPr>
              <a:t>h6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html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63605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Headers</a:t>
            </a: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100" y="1624014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021263" y="3006725"/>
            <a:ext cx="4572000" cy="17399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/>
              <a:t> </a:t>
            </a:r>
            <a:r>
              <a:rPr lang="en-US" altLang="en-US" sz="1800"/>
              <a:t>   </a:t>
            </a:r>
            <a:r>
              <a:rPr lang="en-US" altLang="en-US" sz="1800" noProof="1">
                <a:solidFill>
                  <a:srgbClr val="0000FF"/>
                </a:solidFill>
              </a:rPr>
              <a:t>&lt;</a:t>
            </a:r>
            <a:r>
              <a:rPr lang="en-US" altLang="en-US" sz="1800" noProof="1">
                <a:solidFill>
                  <a:srgbClr val="800000"/>
                </a:solidFill>
              </a:rPr>
              <a:t>h1</a:t>
            </a:r>
            <a:r>
              <a:rPr lang="en-US" altLang="en-US" sz="1800" noProof="1">
                <a:solidFill>
                  <a:srgbClr val="0000FF"/>
                </a:solidFill>
              </a:rPr>
              <a:t>&gt;Level 1 Header&lt;/</a:t>
            </a:r>
            <a:r>
              <a:rPr lang="en-US" altLang="en-US" sz="1800" noProof="1">
                <a:solidFill>
                  <a:srgbClr val="800000"/>
                </a:solidFill>
              </a:rPr>
              <a:t>h1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h2</a:t>
            </a:r>
            <a:r>
              <a:rPr lang="en-US" altLang="en-US" sz="1800" noProof="1">
                <a:solidFill>
                  <a:srgbClr val="0000FF"/>
                </a:solidFill>
              </a:rPr>
              <a:t>&gt;Level 2 Header&lt;/</a:t>
            </a:r>
            <a:r>
              <a:rPr lang="en-US" altLang="en-US" sz="1800" noProof="1">
                <a:solidFill>
                  <a:srgbClr val="800000"/>
                </a:solidFill>
              </a:rPr>
              <a:t>h2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h3</a:t>
            </a:r>
            <a:r>
              <a:rPr lang="en-US" altLang="en-US" sz="1800" noProof="1">
                <a:solidFill>
                  <a:srgbClr val="0000FF"/>
                </a:solidFill>
              </a:rPr>
              <a:t>&gt;Level 3 Header&lt;/</a:t>
            </a:r>
            <a:r>
              <a:rPr lang="en-US" altLang="en-US" sz="1800" noProof="1">
                <a:solidFill>
                  <a:srgbClr val="800000"/>
                </a:solidFill>
              </a:rPr>
              <a:t>h3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h4</a:t>
            </a:r>
            <a:r>
              <a:rPr lang="en-US" altLang="en-US" sz="1800" noProof="1">
                <a:solidFill>
                  <a:srgbClr val="0000FF"/>
                </a:solidFill>
              </a:rPr>
              <a:t>&gt;Level 4 Header&lt;/</a:t>
            </a:r>
            <a:r>
              <a:rPr lang="en-US" altLang="en-US" sz="1800" noProof="1">
                <a:solidFill>
                  <a:srgbClr val="800000"/>
                </a:solidFill>
              </a:rPr>
              <a:t>h4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h5</a:t>
            </a:r>
            <a:r>
              <a:rPr lang="en-US" altLang="en-US" sz="1800" noProof="1">
                <a:solidFill>
                  <a:srgbClr val="0000FF"/>
                </a:solidFill>
              </a:rPr>
              <a:t>&gt;Level 5 Header&lt;/</a:t>
            </a:r>
            <a:r>
              <a:rPr lang="en-US" altLang="en-US" sz="1800" noProof="1">
                <a:solidFill>
                  <a:srgbClr val="800000"/>
                </a:solidFill>
              </a:rPr>
              <a:t>h5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h6</a:t>
            </a:r>
            <a:r>
              <a:rPr lang="en-US" altLang="en-US" sz="1800" noProof="1">
                <a:solidFill>
                  <a:srgbClr val="0000FF"/>
                </a:solidFill>
              </a:rPr>
              <a:t>&gt;Level 6 Header&lt;/</a:t>
            </a:r>
            <a:r>
              <a:rPr lang="en-US" altLang="en-US" sz="1800" noProof="1">
                <a:solidFill>
                  <a:srgbClr val="800000"/>
                </a:solidFill>
              </a:rPr>
              <a:t>h6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453634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Hyperlink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References other sources such as XHTML documents and images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Both text and images can act as hyperlinks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Created using the </a:t>
            </a:r>
            <a:r>
              <a:rPr lang="en-US" altLang="en-US" sz="2400">
                <a:latin typeface="Lucida Console" panose="020B0609040504020204" pitchFamily="49" charset="0"/>
              </a:rPr>
              <a:t>a</a:t>
            </a:r>
            <a:r>
              <a:rPr lang="en-US" altLang="en-US" sz="2400"/>
              <a:t> (anchor) element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Attribute </a:t>
            </a:r>
            <a:r>
              <a:rPr lang="en-US" altLang="en-US" sz="1800">
                <a:latin typeface="Lucida Console" panose="020B0609040504020204" pitchFamily="49" charset="0"/>
              </a:rPr>
              <a:t>href</a:t>
            </a:r>
          </a:p>
          <a:p>
            <a:pPr lvl="3" eaLnBrk="1" hangingPunct="1">
              <a:lnSpc>
                <a:spcPct val="80000"/>
              </a:lnSpc>
            </a:pPr>
            <a:r>
              <a:rPr lang="en-US" altLang="en-US" sz="1800"/>
              <a:t>Specifies the location of a linked resource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/>
              <a:t>Link to e-mail addresses using </a:t>
            </a:r>
            <a:r>
              <a:rPr lang="en-US" altLang="en-US" sz="1800">
                <a:latin typeface="Lucida Console" panose="020B0609040504020204" pitchFamily="49" charset="0"/>
              </a:rPr>
              <a:t>mailto:</a:t>
            </a:r>
            <a:r>
              <a:rPr lang="en-US" altLang="en-US" sz="2000"/>
              <a:t> URL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latin typeface="Lucida Console" panose="020B0609040504020204" pitchFamily="49" charset="0"/>
              </a:rPr>
              <a:t>&lt;strong&gt;</a:t>
            </a:r>
            <a:r>
              <a:rPr lang="en-US" altLang="en-US" sz="2400"/>
              <a:t> </a:t>
            </a:r>
            <a:r>
              <a:rPr lang="en-US" altLang="en-US" sz="2800"/>
              <a:t>tag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Bold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>
                <a:latin typeface="Lucida Console" panose="020B0609040504020204" pitchFamily="49" charset="0"/>
              </a:rPr>
              <a:t>br</a:t>
            </a:r>
            <a:r>
              <a:rPr lang="en-US" altLang="en-US" sz="2400"/>
              <a:t> element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Line break</a:t>
            </a:r>
            <a:endParaRPr lang="en-US" altLang="en-US" sz="2400"/>
          </a:p>
          <a:p>
            <a:pPr eaLnBrk="1" hangingPunct="1">
              <a:lnSpc>
                <a:spcPct val="80000"/>
              </a:lnSpc>
            </a:pPr>
            <a:endParaRPr lang="en-US" altLang="en-US" sz="280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Linking</a:t>
            </a:r>
          </a:p>
        </p:txBody>
      </p:sp>
    </p:spTree>
    <p:extLst>
      <p:ext uri="{BB962C8B-B14F-4D97-AF65-F5344CB8AC3E}">
        <p14:creationId xmlns:p14="http://schemas.microsoft.com/office/powerpoint/2010/main" val="657176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Linking</a:t>
            </a:r>
          </a:p>
        </p:txBody>
      </p:sp>
      <p:sp>
        <p:nvSpPr>
          <p:cNvPr id="34819" name="Rectangle 7"/>
          <p:cNvSpPr>
            <a:spLocks noChangeArrowheads="1"/>
          </p:cNvSpPr>
          <p:nvPr/>
        </p:nvSpPr>
        <p:spPr bwMode="auto">
          <a:xfrm>
            <a:off x="2025651" y="1316038"/>
            <a:ext cx="8226425" cy="5262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800000"/>
                </a:solidFill>
              </a:rPr>
              <a:t>&lt;html&gt;</a:t>
            </a:r>
            <a:endParaRPr lang="en-US" altLang="en-US" sz="14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meta </a:t>
            </a:r>
            <a:r>
              <a:rPr lang="en-US" altLang="en-US" sz="14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  <a:r>
              <a:rPr lang="en-US" altLang="en-US" sz="1400">
                <a:solidFill>
                  <a:srgbClr val="0000FF"/>
                </a:solidFill>
              </a:rPr>
              <a:t>Linking</a:t>
            </a: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strong</a:t>
            </a:r>
            <a:r>
              <a:rPr lang="en-US" altLang="en-US" sz="1400" noProof="1">
                <a:solidFill>
                  <a:srgbClr val="0000FF"/>
                </a:solidFill>
              </a:rPr>
              <a:t>&gt;Click a name to go to that page&lt;/</a:t>
            </a:r>
            <a:r>
              <a:rPr lang="en-US" altLang="en-US" sz="1400" noProof="1">
                <a:solidFill>
                  <a:srgbClr val="800000"/>
                </a:solidFill>
              </a:rPr>
              <a:t>strong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a </a:t>
            </a:r>
            <a:r>
              <a:rPr lang="en-US" altLang="en-US" sz="1400" noProof="1">
                <a:solidFill>
                  <a:srgbClr val="FF0000"/>
                </a:solidFill>
              </a:rPr>
              <a:t>href</a:t>
            </a:r>
            <a:r>
              <a:rPr lang="en-US" altLang="en-US" sz="1400" noProof="1">
                <a:solidFill>
                  <a:srgbClr val="0000FF"/>
                </a:solidFill>
              </a:rPr>
              <a:t>="http://www.google.com"&gt;Google&lt;/</a:t>
            </a:r>
            <a:r>
              <a:rPr lang="en-US" altLang="en-US" sz="1400" noProof="1">
                <a:solidFill>
                  <a:srgbClr val="800000"/>
                </a:solidFill>
              </a:rPr>
              <a:t>a</a:t>
            </a:r>
            <a:r>
              <a:rPr lang="en-US" altLang="en-US" sz="1400" noProof="1">
                <a:solidFill>
                  <a:srgbClr val="0000FF"/>
                </a:solidFill>
              </a:rPr>
              <a:t>&gt;&lt;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a </a:t>
            </a:r>
            <a:r>
              <a:rPr lang="en-US" altLang="en-US" sz="1400" noProof="1">
                <a:solidFill>
                  <a:srgbClr val="FF0000"/>
                </a:solidFill>
              </a:rPr>
              <a:t>href</a:t>
            </a:r>
            <a:r>
              <a:rPr lang="en-US" altLang="en-US" sz="1400" noProof="1">
                <a:solidFill>
                  <a:srgbClr val="0000FF"/>
                </a:solidFill>
              </a:rPr>
              <a:t>="http://www.yahoo.com"&gt;Yahoo&lt;/</a:t>
            </a:r>
            <a:r>
              <a:rPr lang="en-US" altLang="en-US" sz="1400" noProof="1">
                <a:solidFill>
                  <a:srgbClr val="800000"/>
                </a:solidFill>
              </a:rPr>
              <a:t>a</a:t>
            </a:r>
            <a:r>
              <a:rPr lang="en-US" altLang="en-US" sz="1400" noProof="1">
                <a:solidFill>
                  <a:srgbClr val="0000FF"/>
                </a:solidFill>
              </a:rPr>
              <a:t>&gt;&lt;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a </a:t>
            </a:r>
            <a:r>
              <a:rPr lang="en-US" altLang="en-US" sz="1400" noProof="1">
                <a:solidFill>
                  <a:srgbClr val="FF0000"/>
                </a:solidFill>
              </a:rPr>
              <a:t>href</a:t>
            </a:r>
            <a:r>
              <a:rPr lang="en-US" altLang="en-US" sz="1400" noProof="1">
                <a:solidFill>
                  <a:srgbClr val="0000FF"/>
                </a:solidFill>
              </a:rPr>
              <a:t>="http://validator.w3.org"&gt;W3C Markup Validation Service &lt;/</a:t>
            </a:r>
            <a:r>
              <a:rPr lang="en-US" altLang="en-US" sz="1400" noProof="1">
                <a:solidFill>
                  <a:srgbClr val="800000"/>
                </a:solidFill>
              </a:rPr>
              <a:t>a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html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  <a:endParaRPr lang="en-US" altLang="en-US" sz="14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86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Linking</a:t>
            </a:r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63" y="1595439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598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Linking</a:t>
            </a:r>
          </a:p>
        </p:txBody>
      </p:sp>
      <p:sp>
        <p:nvSpPr>
          <p:cNvPr id="36867" name="Rectangle 5"/>
          <p:cNvSpPr>
            <a:spLocks noChangeArrowheads="1"/>
          </p:cNvSpPr>
          <p:nvPr/>
        </p:nvSpPr>
        <p:spPr bwMode="auto">
          <a:xfrm>
            <a:off x="1909764" y="1431925"/>
            <a:ext cx="8226425" cy="480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800000"/>
                </a:solidFill>
              </a:rPr>
              <a:t>&lt;html&gt;</a:t>
            </a:r>
            <a:endParaRPr lang="en-US" altLang="en-US" sz="16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meta </a:t>
            </a:r>
            <a:r>
              <a:rPr lang="en-US" altLang="en-US" sz="16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r>
              <a:rPr lang="en-US" altLang="en-US" sz="1600">
                <a:solidFill>
                  <a:srgbClr val="0000FF"/>
                </a:solidFill>
              </a:rPr>
              <a:t>Linking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Click &lt;</a:t>
            </a:r>
            <a:r>
              <a:rPr lang="en-US" altLang="en-US" sz="1600" noProof="1">
                <a:solidFill>
                  <a:srgbClr val="800000"/>
                </a:solidFill>
              </a:rPr>
              <a:t>a </a:t>
            </a:r>
            <a:r>
              <a:rPr lang="en-US" altLang="en-US" sz="1600" noProof="1">
                <a:solidFill>
                  <a:srgbClr val="FF0000"/>
                </a:solidFill>
              </a:rPr>
              <a:t>href</a:t>
            </a:r>
            <a:r>
              <a:rPr lang="en-US" altLang="en-US" sz="1600" noProof="1">
                <a:solidFill>
                  <a:srgbClr val="0000FF"/>
                </a:solidFill>
              </a:rPr>
              <a:t>="mailto:name@email.com"&gt;here&lt;/</a:t>
            </a:r>
            <a:r>
              <a:rPr lang="en-US" altLang="en-US" sz="1600" noProof="1">
                <a:solidFill>
                  <a:srgbClr val="800000"/>
                </a:solidFill>
              </a:rPr>
              <a:t>a</a:t>
            </a:r>
            <a:r>
              <a:rPr lang="en-US" altLang="en-US" sz="1600" noProof="1">
                <a:solidFill>
                  <a:srgbClr val="0000FF"/>
                </a:solidFill>
              </a:rPr>
              <a:t>&gt; to send an email to me.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 noProof="1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46757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Linking</a:t>
            </a:r>
          </a:p>
        </p:txBody>
      </p:sp>
      <p:pic>
        <p:nvPicPr>
          <p:cNvPr id="3789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63" y="1595439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950" y="3368676"/>
            <a:ext cx="65913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939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Three most popular formats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Graphics Interchange Format (GIF)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Joint Photographic Experts Group (JPEG)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Portable Network Graphics (PNG)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Lucida Console" panose="020B0609040504020204" pitchFamily="49" charset="0"/>
              </a:rPr>
              <a:t>img</a:t>
            </a:r>
            <a:r>
              <a:rPr lang="en-US" altLang="en-US" sz="2200"/>
              <a:t> element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latin typeface="Lucida Console" panose="020B0609040504020204" pitchFamily="49" charset="0"/>
              </a:rPr>
              <a:t>src</a:t>
            </a:r>
            <a:r>
              <a:rPr lang="en-US" altLang="en-US" sz="1800"/>
              <a:t> attribute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600"/>
              <a:t>Specifies the location of the image file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latin typeface="Lucida Console" panose="020B0609040504020204" pitchFamily="49" charset="0"/>
              </a:rPr>
              <a:t>width</a:t>
            </a:r>
            <a:r>
              <a:rPr lang="en-US" altLang="en-US" sz="1800"/>
              <a:t> and </a:t>
            </a:r>
            <a:r>
              <a:rPr lang="en-US" altLang="en-US" sz="1800">
                <a:latin typeface="Lucida Console" panose="020B0609040504020204" pitchFamily="49" charset="0"/>
              </a:rPr>
              <a:t>height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Pixels (“picture elements”)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Empty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Terminated by character </a:t>
            </a:r>
            <a:r>
              <a:rPr lang="en-US" altLang="en-US" sz="2200">
                <a:latin typeface="Lucida Console" panose="020B0609040504020204" pitchFamily="49" charset="0"/>
              </a:rPr>
              <a:t>/</a:t>
            </a:r>
            <a:r>
              <a:rPr lang="en-US" altLang="en-US" sz="2200"/>
              <a:t> inside the closing right angle bracket (</a:t>
            </a:r>
            <a:r>
              <a:rPr lang="en-US" altLang="en-US" sz="2200">
                <a:latin typeface="Lucida Console" panose="020B0609040504020204" pitchFamily="49" charset="0"/>
              </a:rPr>
              <a:t>&gt;</a:t>
            </a:r>
            <a:r>
              <a:rPr lang="en-US" altLang="en-US" sz="2200"/>
              <a:t>), or by explicitly including the end tag</a:t>
            </a:r>
          </a:p>
          <a:p>
            <a:pPr eaLnBrk="1" hangingPunct="1">
              <a:lnSpc>
                <a:spcPct val="90000"/>
              </a:lnSpc>
            </a:pPr>
            <a:endParaRPr lang="en-US" altLang="en-US" sz="25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3151747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Images</a:t>
            </a:r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1985964" y="1277939"/>
            <a:ext cx="8226425" cy="50307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800000"/>
                </a:solidFill>
              </a:rPr>
              <a:t>&lt;html&gt;</a:t>
            </a:r>
            <a:endParaRPr lang="en-US" altLang="en-US" sz="16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meta </a:t>
            </a:r>
            <a:r>
              <a:rPr lang="en-US" altLang="en-US" sz="16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&gt;Images&lt;/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img </a:t>
            </a:r>
            <a:r>
              <a:rPr lang="en-US" altLang="en-US" sz="1600" noProof="1">
                <a:solidFill>
                  <a:srgbClr val="FF0000"/>
                </a:solidFill>
              </a:rPr>
              <a:t>src</a:t>
            </a:r>
            <a:r>
              <a:rPr lang="en-US" altLang="en-US" sz="1600" noProof="1">
                <a:solidFill>
                  <a:srgbClr val="0000FF"/>
                </a:solidFill>
              </a:rPr>
              <a:t>="princess.jpg" </a:t>
            </a:r>
            <a:r>
              <a:rPr lang="en-US" altLang="en-US" sz="1600" noProof="1">
                <a:solidFill>
                  <a:srgbClr val="FF0000"/>
                </a:solidFill>
              </a:rPr>
              <a:t>width</a:t>
            </a:r>
            <a:r>
              <a:rPr lang="en-US" altLang="en-US" sz="1600" noProof="1">
                <a:solidFill>
                  <a:srgbClr val="0000FF"/>
                </a:solidFill>
              </a:rPr>
              <a:t>="640" </a:t>
            </a:r>
            <a:r>
              <a:rPr lang="en-US" altLang="en-US" sz="1600" noProof="1">
                <a:solidFill>
                  <a:srgbClr val="FF0000"/>
                </a:solidFill>
              </a:rPr>
              <a:t>height</a:t>
            </a:r>
            <a:r>
              <a:rPr lang="en-US" altLang="en-US" sz="1600" noProof="1">
                <a:solidFill>
                  <a:srgbClr val="0000FF"/>
                </a:solidFill>
              </a:rPr>
              <a:t>="360" </a:t>
            </a:r>
            <a:r>
              <a:rPr lang="en-US" altLang="en-US" sz="1600" noProof="1">
                <a:solidFill>
                  <a:srgbClr val="FF0000"/>
                </a:solidFill>
              </a:rPr>
              <a:t>alt</a:t>
            </a:r>
            <a:r>
              <a:rPr lang="en-US" altLang="en-US" sz="1600" noProof="1">
                <a:solidFill>
                  <a:srgbClr val="0000FF"/>
                </a:solidFill>
              </a:rPr>
              <a:t>="PrincessL"/&gt;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img </a:t>
            </a:r>
            <a:r>
              <a:rPr lang="en-US" altLang="en-US" sz="1600" noProof="1">
                <a:solidFill>
                  <a:srgbClr val="FF0000"/>
                </a:solidFill>
              </a:rPr>
              <a:t>src</a:t>
            </a:r>
            <a:r>
              <a:rPr lang="en-US" altLang="en-US" sz="1600" noProof="1">
                <a:solidFill>
                  <a:srgbClr val="0000FF"/>
                </a:solidFill>
              </a:rPr>
              <a:t>="princess.jpg" </a:t>
            </a:r>
            <a:r>
              <a:rPr lang="en-US" altLang="en-US" sz="1600" noProof="1">
                <a:solidFill>
                  <a:srgbClr val="FF0000"/>
                </a:solidFill>
              </a:rPr>
              <a:t>width</a:t>
            </a:r>
            <a:r>
              <a:rPr lang="en-US" altLang="en-US" sz="1600" noProof="1">
                <a:solidFill>
                  <a:srgbClr val="0000FF"/>
                </a:solidFill>
              </a:rPr>
              <a:t>="356" </a:t>
            </a:r>
            <a:r>
              <a:rPr lang="en-US" altLang="en-US" sz="1600" noProof="1">
                <a:solidFill>
                  <a:srgbClr val="FF0000"/>
                </a:solidFill>
              </a:rPr>
              <a:t>height</a:t>
            </a:r>
            <a:r>
              <a:rPr lang="en-US" altLang="en-US" sz="1600" noProof="1">
                <a:solidFill>
                  <a:srgbClr val="0000FF"/>
                </a:solidFill>
              </a:rPr>
              <a:t>="200" </a:t>
            </a:r>
            <a:r>
              <a:rPr lang="en-US" altLang="en-US" sz="1600" noProof="1">
                <a:solidFill>
                  <a:srgbClr val="FF0000"/>
                </a:solidFill>
              </a:rPr>
              <a:t>alt</a:t>
            </a:r>
            <a:r>
              <a:rPr lang="en-US" altLang="en-US" sz="1600" noProof="1">
                <a:solidFill>
                  <a:srgbClr val="0000FF"/>
                </a:solidFill>
              </a:rPr>
              <a:t>="PrincessM"/&gt;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img </a:t>
            </a:r>
            <a:r>
              <a:rPr lang="en-US" altLang="en-US" sz="1600" noProof="1">
                <a:solidFill>
                  <a:srgbClr val="FF0000"/>
                </a:solidFill>
              </a:rPr>
              <a:t>src</a:t>
            </a:r>
            <a:r>
              <a:rPr lang="en-US" altLang="en-US" sz="1600" noProof="1">
                <a:solidFill>
                  <a:srgbClr val="0000FF"/>
                </a:solidFill>
              </a:rPr>
              <a:t>="princess.jpg" </a:t>
            </a:r>
            <a:r>
              <a:rPr lang="en-US" altLang="en-US" sz="1600" noProof="1">
                <a:solidFill>
                  <a:srgbClr val="FF0000"/>
                </a:solidFill>
              </a:rPr>
              <a:t>width</a:t>
            </a:r>
            <a:r>
              <a:rPr lang="en-US" altLang="en-US" sz="1600" noProof="1">
                <a:solidFill>
                  <a:srgbClr val="0000FF"/>
                </a:solidFill>
              </a:rPr>
              <a:t>="228" </a:t>
            </a:r>
            <a:r>
              <a:rPr lang="en-US" altLang="en-US" sz="1600" noProof="1">
                <a:solidFill>
                  <a:srgbClr val="FF0000"/>
                </a:solidFill>
              </a:rPr>
              <a:t>height</a:t>
            </a:r>
            <a:r>
              <a:rPr lang="en-US" altLang="en-US" sz="1600" noProof="1">
                <a:solidFill>
                  <a:srgbClr val="0000FF"/>
                </a:solidFill>
              </a:rPr>
              <a:t>="128" </a:t>
            </a:r>
            <a:r>
              <a:rPr lang="en-US" altLang="en-US" sz="1600" noProof="1">
                <a:solidFill>
                  <a:srgbClr val="FF0000"/>
                </a:solidFill>
              </a:rPr>
              <a:t>alt</a:t>
            </a:r>
            <a:r>
              <a:rPr lang="en-US" altLang="en-US" sz="1600" noProof="1">
                <a:solidFill>
                  <a:srgbClr val="0000FF"/>
                </a:solidFill>
              </a:rPr>
              <a:t>="PrincessS"/&gt;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62448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Images</a:t>
            </a:r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1393826"/>
            <a:ext cx="6927850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6778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Images</a:t>
            </a: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2025651" y="1239838"/>
            <a:ext cx="8226425" cy="5338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800000"/>
                </a:solidFill>
              </a:rPr>
              <a:t>&lt;html&gt;</a:t>
            </a:r>
            <a:endParaRPr lang="en-US" altLang="en-US" sz="14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meta </a:t>
            </a:r>
            <a:r>
              <a:rPr lang="en-US" altLang="en-US" sz="14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&gt;Linking&lt;/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strong</a:t>
            </a:r>
            <a:r>
              <a:rPr lang="en-US" altLang="en-US" sz="1400" noProof="1">
                <a:solidFill>
                  <a:srgbClr val="0000FF"/>
                </a:solidFill>
              </a:rPr>
              <a:t>&gt;Click a picture to go to that page&lt;/</a:t>
            </a:r>
            <a:r>
              <a:rPr lang="en-US" altLang="en-US" sz="1400" noProof="1">
                <a:solidFill>
                  <a:srgbClr val="800000"/>
                </a:solidFill>
              </a:rPr>
              <a:t>strong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a </a:t>
            </a:r>
            <a:r>
              <a:rPr lang="en-US" altLang="en-US" sz="1400" noProof="1">
                <a:solidFill>
                  <a:srgbClr val="FF0000"/>
                </a:solidFill>
              </a:rPr>
              <a:t>href</a:t>
            </a:r>
            <a:r>
              <a:rPr lang="en-US" altLang="en-US" sz="1400" noProof="1">
                <a:solidFill>
                  <a:srgbClr val="0000FF"/>
                </a:solidFill>
              </a:rPr>
              <a:t>="http://www.google.com"&gt;&lt;</a:t>
            </a:r>
            <a:r>
              <a:rPr lang="en-US" altLang="en-US" sz="1400" noProof="1">
                <a:solidFill>
                  <a:srgbClr val="800000"/>
                </a:solidFill>
              </a:rPr>
              <a:t>img </a:t>
            </a:r>
            <a:r>
              <a:rPr lang="en-US" altLang="en-US" sz="1400" noProof="1">
                <a:solidFill>
                  <a:srgbClr val="FF0000"/>
                </a:solidFill>
              </a:rPr>
              <a:t>src</a:t>
            </a:r>
            <a:r>
              <a:rPr lang="en-US" altLang="en-US" sz="1400" noProof="1">
                <a:solidFill>
                  <a:srgbClr val="0000FF"/>
                </a:solidFill>
              </a:rPr>
              <a:t>="google.gif" /&gt;&lt;/</a:t>
            </a:r>
            <a:r>
              <a:rPr lang="en-US" altLang="en-US" sz="1400" noProof="1">
                <a:solidFill>
                  <a:srgbClr val="800000"/>
                </a:solidFill>
              </a:rPr>
              <a:t>a</a:t>
            </a:r>
            <a:r>
              <a:rPr lang="en-US" altLang="en-US" sz="1400" noProof="1">
                <a:solidFill>
                  <a:srgbClr val="0000FF"/>
                </a:solidFill>
              </a:rPr>
              <a:t>&gt;&lt;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a </a:t>
            </a:r>
            <a:r>
              <a:rPr lang="en-US" altLang="en-US" sz="1400" noProof="1">
                <a:solidFill>
                  <a:srgbClr val="FF0000"/>
                </a:solidFill>
              </a:rPr>
              <a:t>href</a:t>
            </a:r>
            <a:r>
              <a:rPr lang="en-US" altLang="en-US" sz="1400" noProof="1">
                <a:solidFill>
                  <a:srgbClr val="0000FF"/>
                </a:solidFill>
              </a:rPr>
              <a:t>="http://www.yahoo.com"&gt;&lt;</a:t>
            </a:r>
            <a:r>
              <a:rPr lang="en-US" altLang="en-US" sz="1400" noProof="1">
                <a:solidFill>
                  <a:srgbClr val="800000"/>
                </a:solidFill>
              </a:rPr>
              <a:t>img </a:t>
            </a:r>
            <a:r>
              <a:rPr lang="en-US" altLang="en-US" sz="1400" noProof="1">
                <a:solidFill>
                  <a:srgbClr val="FF0000"/>
                </a:solidFill>
              </a:rPr>
              <a:t>src</a:t>
            </a:r>
            <a:r>
              <a:rPr lang="en-US" altLang="en-US" sz="1400" noProof="1">
                <a:solidFill>
                  <a:srgbClr val="0000FF"/>
                </a:solidFill>
              </a:rPr>
              <a:t>="yahoo.gif" /&gt;&lt;/</a:t>
            </a:r>
            <a:r>
              <a:rPr lang="en-US" altLang="en-US" sz="1400" noProof="1">
                <a:solidFill>
                  <a:srgbClr val="800000"/>
                </a:solidFill>
              </a:rPr>
              <a:t>a</a:t>
            </a:r>
            <a:r>
              <a:rPr lang="en-US" altLang="en-US" sz="1400" noProof="1">
                <a:solidFill>
                  <a:srgbClr val="0000FF"/>
                </a:solidFill>
              </a:rPr>
              <a:t>&gt;&lt;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a </a:t>
            </a:r>
            <a:r>
              <a:rPr lang="en-US" altLang="en-US" sz="1400" noProof="1">
                <a:solidFill>
                  <a:srgbClr val="FF0000"/>
                </a:solidFill>
              </a:rPr>
              <a:t>href</a:t>
            </a:r>
            <a:r>
              <a:rPr lang="en-US" altLang="en-US" sz="1400" noProof="1">
                <a:solidFill>
                  <a:srgbClr val="0000FF"/>
                </a:solidFill>
              </a:rPr>
              <a:t>="http://validator.w3.org"&gt;&lt;</a:t>
            </a:r>
            <a:r>
              <a:rPr lang="en-US" altLang="en-US" sz="1400" noProof="1">
                <a:solidFill>
                  <a:srgbClr val="800000"/>
                </a:solidFill>
              </a:rPr>
              <a:t>img </a:t>
            </a:r>
            <a:r>
              <a:rPr lang="en-US" altLang="en-US" sz="1400" noProof="1">
                <a:solidFill>
                  <a:srgbClr val="FF0000"/>
                </a:solidFill>
              </a:rPr>
              <a:t>src</a:t>
            </a:r>
            <a:r>
              <a:rPr lang="en-US" altLang="en-US" sz="1400" noProof="1">
                <a:solidFill>
                  <a:srgbClr val="0000FF"/>
                </a:solidFill>
              </a:rPr>
              <a:t>="w3c-valid-xhtml.png" /&gt;&lt;/</a:t>
            </a:r>
            <a:r>
              <a:rPr lang="en-US" altLang="en-US" sz="1400" noProof="1">
                <a:solidFill>
                  <a:srgbClr val="800000"/>
                </a:solidFill>
              </a:rPr>
              <a:t>a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html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2156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Images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1585914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55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Character entity references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Numeric character references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latin typeface="Lucida Console" panose="020B0609040504020204" pitchFamily="49" charset="0"/>
              </a:rPr>
              <a:t>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Strike-out text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latin typeface="Lucida Console" panose="020B0609040504020204" pitchFamily="49" charset="0"/>
              </a:rPr>
              <a:t>sup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Superscript text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latin typeface="Lucida Console" panose="020B0609040504020204" pitchFamily="49" charset="0"/>
              </a:rPr>
              <a:t>sub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Subscript text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latin typeface="Lucida Console" panose="020B0609040504020204" pitchFamily="49" charset="0"/>
              </a:rPr>
              <a:t>hr</a:t>
            </a:r>
            <a:endParaRPr lang="en-US" altLang="en-US" sz="2800" dirty="0">
              <a:latin typeface="Lucida Console" panose="020B06090405040202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Horizontal rule (horizontal line)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>
                <a:cs typeface="Times New Roman" panose="02020603050405020304" pitchFamily="18" charset="0"/>
              </a:rPr>
              <a:t>Special Characters and More Line Breaks</a:t>
            </a:r>
          </a:p>
        </p:txBody>
      </p:sp>
    </p:spTree>
    <p:extLst>
      <p:ext uri="{BB962C8B-B14F-4D97-AF65-F5344CB8AC3E}">
        <p14:creationId xmlns:p14="http://schemas.microsoft.com/office/powerpoint/2010/main" val="4226834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>
                <a:cs typeface="Times New Roman" panose="02020603050405020304" pitchFamily="18" charset="0"/>
              </a:rPr>
              <a:t>Special Characters and More Line Breaks</a:t>
            </a:r>
          </a:p>
        </p:txBody>
      </p:sp>
      <p:sp>
        <p:nvSpPr>
          <p:cNvPr id="45059" name="Rectangle 5"/>
          <p:cNvSpPr>
            <a:spLocks noChangeArrowheads="1"/>
          </p:cNvSpPr>
          <p:nvPr/>
        </p:nvSpPr>
        <p:spPr bwMode="auto">
          <a:xfrm>
            <a:off x="1985964" y="1585914"/>
            <a:ext cx="8226425" cy="4524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800000"/>
                </a:solidFill>
              </a:rPr>
              <a:t>&lt;html&gt;</a:t>
            </a:r>
            <a:endParaRPr lang="en-US" altLang="en-US" sz="18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&lt;</a:t>
            </a:r>
            <a:r>
              <a:rPr lang="en-US" altLang="en-US" sz="1800" noProof="1">
                <a:solidFill>
                  <a:srgbClr val="800000"/>
                </a:solidFill>
              </a:rPr>
              <a:t>head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meta </a:t>
            </a:r>
            <a:r>
              <a:rPr lang="en-US" altLang="en-US" sz="18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title</a:t>
            </a:r>
            <a:r>
              <a:rPr lang="en-US" altLang="en-US" sz="1800" noProof="1">
                <a:solidFill>
                  <a:srgbClr val="0000FF"/>
                </a:solidFill>
              </a:rPr>
              <a:t>&gt;Special Characters and More Line Breaks&lt;/</a:t>
            </a:r>
            <a:r>
              <a:rPr lang="en-US" altLang="en-US" sz="1800" noProof="1">
                <a:solidFill>
                  <a:srgbClr val="800000"/>
                </a:solidFill>
              </a:rPr>
              <a:t>title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&lt;/</a:t>
            </a:r>
            <a:r>
              <a:rPr lang="en-US" altLang="en-US" sz="1800" noProof="1">
                <a:solidFill>
                  <a:srgbClr val="800000"/>
                </a:solidFill>
              </a:rPr>
              <a:t>head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&lt;</a:t>
            </a:r>
            <a:r>
              <a:rPr lang="en-US" altLang="en-US" sz="1800" noProof="1">
                <a:solidFill>
                  <a:srgbClr val="800000"/>
                </a:solidFill>
              </a:rPr>
              <a:t>body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p</a:t>
            </a:r>
            <a:r>
              <a:rPr lang="en-US" altLang="en-US" sz="1800" noProof="1">
                <a:solidFill>
                  <a:srgbClr val="0000FF"/>
                </a:solidFill>
              </a:rPr>
              <a:t>&gt;Special Characters and More Line Breaks&lt;/</a:t>
            </a:r>
            <a:r>
              <a:rPr lang="en-US" altLang="en-US" sz="1800" noProof="1">
                <a:solidFill>
                  <a:srgbClr val="800000"/>
                </a:solidFill>
              </a:rPr>
              <a:t>p</a:t>
            </a:r>
            <a:r>
              <a:rPr lang="en-US" altLang="en-US" sz="18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noProof="1">
                <a:solidFill>
                  <a:srgbClr val="0000FF"/>
                </a:solidFill>
              </a:rPr>
              <a:t>    &lt;</a:t>
            </a:r>
            <a:r>
              <a:rPr lang="en-US" altLang="en-US" sz="1800" noProof="1">
                <a:solidFill>
                  <a:srgbClr val="800000"/>
                </a:solidFill>
              </a:rPr>
              <a:t>hr </a:t>
            </a:r>
            <a:r>
              <a:rPr lang="en-US" altLang="en-US" sz="1800" noProof="1">
                <a:solidFill>
                  <a:srgbClr val="0000FF"/>
                </a:solidFill>
              </a:rPr>
              <a:t>/&gt; </a:t>
            </a:r>
            <a:r>
              <a:rPr lang="en-US" altLang="en-US" sz="1800" noProof="1">
                <a:solidFill>
                  <a:srgbClr val="008000"/>
                </a:solidFill>
              </a:rPr>
              <a:t>&lt;!-- inserts a horizontal rule --&gt;</a:t>
            </a:r>
            <a:endParaRPr lang="en-US" altLang="en-US" sz="180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428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>
                <a:cs typeface="Times New Roman" panose="02020603050405020304" pitchFamily="18" charset="0"/>
              </a:rPr>
              <a:t>Special Characters and More Line Breaks</a:t>
            </a:r>
          </a:p>
        </p:txBody>
      </p:sp>
      <p:sp>
        <p:nvSpPr>
          <p:cNvPr id="46083" name="Rectangle 5"/>
          <p:cNvSpPr>
            <a:spLocks noChangeArrowheads="1"/>
          </p:cNvSpPr>
          <p:nvPr/>
        </p:nvSpPr>
        <p:spPr bwMode="auto">
          <a:xfrm>
            <a:off x="1947864" y="1355725"/>
            <a:ext cx="8226425" cy="5145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/>
              <a:t>   </a:t>
            </a:r>
            <a:r>
              <a:rPr lang="en-US" altLang="en-US" sz="1600" noProof="1">
                <a:solidFill>
                  <a:srgbClr val="008000"/>
                </a:solidFill>
              </a:rPr>
              <a:t>&lt;!-- to strike through text use &lt;del&gt; tags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</a:t>
            </a:r>
            <a:r>
              <a:rPr lang="en-US" altLang="en-US" sz="1600">
                <a:solidFill>
                  <a:srgbClr val="008000"/>
                </a:solidFill>
              </a:rPr>
              <a:t> </a:t>
            </a:r>
            <a:r>
              <a:rPr lang="en-US" altLang="en-US" sz="1600" noProof="1">
                <a:solidFill>
                  <a:srgbClr val="008000"/>
                </a:solidFill>
              </a:rPr>
              <a:t>  &lt;!-- to subscript text use &lt;sub&gt; tags  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&lt;!-- to superscript text use &lt;sup&gt; tags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&lt;!-- these tags are nested inside other tags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&gt;&lt;</a:t>
            </a:r>
            <a:r>
              <a:rPr lang="en-US" altLang="en-US" sz="1600" noProof="1">
                <a:solidFill>
                  <a:srgbClr val="800000"/>
                </a:solidFill>
              </a:rPr>
              <a:t>del</a:t>
            </a:r>
            <a:r>
              <a:rPr lang="en-US" altLang="en-US" sz="1600" noProof="1">
                <a:solidFill>
                  <a:srgbClr val="0000FF"/>
                </a:solidFill>
              </a:rPr>
              <a:t>&gt;This is strike through&lt;/</a:t>
            </a:r>
            <a:r>
              <a:rPr lang="en-US" altLang="en-US" sz="1600" noProof="1">
                <a:solidFill>
                  <a:srgbClr val="800000"/>
                </a:solidFill>
              </a:rPr>
              <a:t>del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&gt;Superscript: 3.14 x 10&lt;</a:t>
            </a:r>
            <a:r>
              <a:rPr lang="en-US" altLang="en-US" sz="1600" noProof="1">
                <a:solidFill>
                  <a:srgbClr val="800000"/>
                </a:solidFill>
              </a:rPr>
              <a:t>sup</a:t>
            </a:r>
            <a:r>
              <a:rPr lang="en-US" altLang="en-US" sz="1600" noProof="1">
                <a:solidFill>
                  <a:srgbClr val="0000FF"/>
                </a:solidFill>
              </a:rPr>
              <a:t>&gt;2&lt;/</a:t>
            </a:r>
            <a:r>
              <a:rPr lang="en-US" altLang="en-US" sz="1600" noProof="1">
                <a:solidFill>
                  <a:srgbClr val="800000"/>
                </a:solidFill>
              </a:rPr>
              <a:t>sup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&gt;Subscript: H&lt;</a:t>
            </a:r>
            <a:r>
              <a:rPr lang="en-US" altLang="en-US" sz="1600" noProof="1">
                <a:solidFill>
                  <a:srgbClr val="800000"/>
                </a:solidFill>
              </a:rPr>
              <a:t>sub</a:t>
            </a:r>
            <a:r>
              <a:rPr lang="en-US" altLang="en-US" sz="1600" noProof="1">
                <a:solidFill>
                  <a:srgbClr val="0000FF"/>
                </a:solidFill>
              </a:rPr>
              <a:t>&gt;2&lt;/</a:t>
            </a:r>
            <a:r>
              <a:rPr lang="en-US" altLang="en-US" sz="1600" noProof="1">
                <a:solidFill>
                  <a:srgbClr val="800000"/>
                </a:solidFill>
              </a:rPr>
              <a:t>sub</a:t>
            </a:r>
            <a:r>
              <a:rPr lang="en-US" altLang="en-US" sz="1600" noProof="1">
                <a:solidFill>
                  <a:srgbClr val="0000FF"/>
                </a:solidFill>
              </a:rPr>
              <a:t>&gt;O&lt;/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</a:t>
            </a:r>
            <a:r>
              <a:rPr lang="en-US" altLang="en-US" sz="1600" noProof="1">
                <a:solidFill>
                  <a:srgbClr val="008000"/>
                </a:solidFill>
              </a:rPr>
              <a:t>&lt;!-- special characters are entered using the form &amp;code;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&gt;Half: &lt;</a:t>
            </a:r>
            <a:r>
              <a:rPr lang="en-US" altLang="en-US" sz="1600" noProof="1">
                <a:solidFill>
                  <a:srgbClr val="800000"/>
                </a:solidFill>
              </a:rPr>
              <a:t>strong</a:t>
            </a:r>
            <a:r>
              <a:rPr lang="en-US" altLang="en-US" sz="1600" noProof="1">
                <a:solidFill>
                  <a:srgbClr val="0000FF"/>
                </a:solidFill>
              </a:rPr>
              <a:t>&gt; </a:t>
            </a:r>
            <a:r>
              <a:rPr lang="en-US" altLang="en-US" sz="1600" noProof="1">
                <a:solidFill>
                  <a:srgbClr val="FF0000"/>
                </a:solidFill>
              </a:rPr>
              <a:t>&amp;frac12;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strong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&gt;Quater: &lt;</a:t>
            </a:r>
            <a:r>
              <a:rPr lang="en-US" altLang="en-US" sz="1600" noProof="1">
                <a:solidFill>
                  <a:srgbClr val="800000"/>
                </a:solidFill>
              </a:rPr>
              <a:t>strong</a:t>
            </a:r>
            <a:r>
              <a:rPr lang="en-US" altLang="en-US" sz="1600" noProof="1">
                <a:solidFill>
                  <a:srgbClr val="0000FF"/>
                </a:solidFill>
              </a:rPr>
              <a:t>&gt; </a:t>
            </a:r>
            <a:r>
              <a:rPr lang="en-US" altLang="en-US" sz="1600" noProof="1">
                <a:solidFill>
                  <a:srgbClr val="FF0000"/>
                </a:solidFill>
              </a:rPr>
              <a:t>&amp;frac14;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strong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&gt;Copyright: &lt;</a:t>
            </a:r>
            <a:r>
              <a:rPr lang="en-US" altLang="en-US" sz="1600" noProof="1">
                <a:solidFill>
                  <a:srgbClr val="800000"/>
                </a:solidFill>
              </a:rPr>
              <a:t>strong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r>
              <a:rPr lang="en-US" altLang="en-US" sz="1600" noProof="1">
                <a:solidFill>
                  <a:srgbClr val="FF0000"/>
                </a:solidFill>
              </a:rPr>
              <a:t>&amp;copy;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strong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hr </a:t>
            </a:r>
            <a:r>
              <a:rPr lang="en-US" altLang="en-US" sz="1600" noProof="1">
                <a:solidFill>
                  <a:srgbClr val="0000FF"/>
                </a:solidFill>
              </a:rPr>
              <a:t>/&gt; </a:t>
            </a:r>
            <a:r>
              <a:rPr lang="en-US" altLang="en-US" sz="1600" noProof="1">
                <a:solidFill>
                  <a:srgbClr val="008000"/>
                </a:solidFill>
              </a:rPr>
              <a:t>&lt;!-- inserts a horizontal rule --&gt;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687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>
                <a:cs typeface="Times New Roman" panose="02020603050405020304" pitchFamily="18" charset="0"/>
              </a:rPr>
              <a:t>Special Characters and More Line Breaks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739" y="1393826"/>
            <a:ext cx="7680325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173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Unordered list element </a:t>
            </a:r>
            <a:r>
              <a:rPr lang="en-US" altLang="en-US" sz="2800">
                <a:latin typeface="Lucida Console" panose="020B0609040504020204" pitchFamily="49" charset="0"/>
              </a:rPr>
              <a:t>ul</a:t>
            </a:r>
          </a:p>
          <a:p>
            <a:pPr lvl="1" eaLnBrk="1" hangingPunct="1"/>
            <a:r>
              <a:rPr lang="en-US" altLang="en-US"/>
              <a:t>Creates a list in which each item begins with a bullet symbol (called a disc)</a:t>
            </a:r>
          </a:p>
          <a:p>
            <a:pPr lvl="1" eaLnBrk="1" hangingPunct="1"/>
            <a:r>
              <a:rPr lang="en-US" altLang="en-US" sz="2500">
                <a:latin typeface="Lucida Console" panose="020B0609040504020204" pitchFamily="49" charset="0"/>
              </a:rPr>
              <a:t>li</a:t>
            </a:r>
            <a:r>
              <a:rPr lang="en-US" altLang="en-US"/>
              <a:t> (list item)</a:t>
            </a:r>
          </a:p>
          <a:p>
            <a:pPr lvl="2" eaLnBrk="1" hangingPunct="1"/>
            <a:r>
              <a:rPr lang="en-US" altLang="en-US"/>
              <a:t>Entry in an unordered list</a:t>
            </a:r>
          </a:p>
          <a:p>
            <a:pPr eaLnBrk="1" hangingPunct="1"/>
            <a:endParaRPr lang="en-US" alt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Unordered Lists</a:t>
            </a:r>
          </a:p>
        </p:txBody>
      </p:sp>
    </p:spTree>
    <p:extLst>
      <p:ext uri="{BB962C8B-B14F-4D97-AF65-F5344CB8AC3E}">
        <p14:creationId xmlns:p14="http://schemas.microsoft.com/office/powerpoint/2010/main" val="3766904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Unordered Lists</a:t>
            </a:r>
          </a:p>
        </p:txBody>
      </p:sp>
      <p:sp>
        <p:nvSpPr>
          <p:cNvPr id="49155" name="Rectangle 5"/>
          <p:cNvSpPr>
            <a:spLocks noChangeArrowheads="1"/>
          </p:cNvSpPr>
          <p:nvPr/>
        </p:nvSpPr>
        <p:spPr bwMode="auto">
          <a:xfrm>
            <a:off x="1909764" y="1163638"/>
            <a:ext cx="8226425" cy="53768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800000"/>
                </a:solidFill>
              </a:rPr>
              <a:t>&lt;html&gt;</a:t>
            </a:r>
            <a:endParaRPr lang="en-US" altLang="en-US" sz="16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meta </a:t>
            </a:r>
            <a:r>
              <a:rPr lang="en-US" altLang="en-US" sz="16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&gt;Unordered Lists&lt;/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Here are my favorite fruits&lt;</a:t>
            </a:r>
            <a:r>
              <a:rPr lang="en-US" altLang="en-US" sz="1600" noProof="1">
                <a:solidFill>
                  <a:srgbClr val="800000"/>
                </a:solidFill>
              </a:rPr>
              <a:t>br </a:t>
            </a:r>
            <a:r>
              <a:rPr lang="en-US" altLang="en-US" sz="16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&gt;Banana&lt;/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&gt;Coconut&lt;/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&gt;Papaya&lt;/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&lt;/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   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023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Unordered Lists</a:t>
            </a:r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1985964" y="1585913"/>
            <a:ext cx="8226425" cy="2381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&gt;Here are my favorite sites&lt;/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&gt;&lt;</a:t>
            </a:r>
            <a:r>
              <a:rPr lang="en-US" altLang="en-US" sz="1600" noProof="1">
                <a:solidFill>
                  <a:srgbClr val="800000"/>
                </a:solidFill>
              </a:rPr>
              <a:t>a </a:t>
            </a:r>
            <a:r>
              <a:rPr lang="en-US" altLang="en-US" sz="1600" noProof="1">
                <a:solidFill>
                  <a:srgbClr val="FF0000"/>
                </a:solidFill>
              </a:rPr>
              <a:t>href</a:t>
            </a:r>
            <a:r>
              <a:rPr lang="en-US" altLang="en-US" sz="1600" noProof="1">
                <a:solidFill>
                  <a:srgbClr val="0000FF"/>
                </a:solidFill>
              </a:rPr>
              <a:t>="http://www.google.com"&gt;Google&lt;/</a:t>
            </a:r>
            <a:r>
              <a:rPr lang="en-US" altLang="en-US" sz="1600" noProof="1">
                <a:solidFill>
                  <a:srgbClr val="800000"/>
                </a:solidFill>
              </a:rPr>
              <a:t>a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&gt;&lt;</a:t>
            </a:r>
            <a:r>
              <a:rPr lang="en-US" altLang="en-US" sz="1600" noProof="1">
                <a:solidFill>
                  <a:srgbClr val="800000"/>
                </a:solidFill>
              </a:rPr>
              <a:t>a </a:t>
            </a:r>
            <a:r>
              <a:rPr lang="en-US" altLang="en-US" sz="1600" noProof="1">
                <a:solidFill>
                  <a:srgbClr val="FF0000"/>
                </a:solidFill>
              </a:rPr>
              <a:t>href</a:t>
            </a:r>
            <a:r>
              <a:rPr lang="en-US" altLang="en-US" sz="1600" noProof="1">
                <a:solidFill>
                  <a:srgbClr val="0000FF"/>
                </a:solidFill>
              </a:rPr>
              <a:t>="http://www.yahoo.com"&gt;Yahoo&lt;/</a:t>
            </a:r>
            <a:r>
              <a:rPr lang="en-US" altLang="en-US" sz="1600" noProof="1">
                <a:solidFill>
                  <a:srgbClr val="800000"/>
                </a:solidFill>
              </a:rPr>
              <a:t>a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&gt;&lt;</a:t>
            </a:r>
            <a:r>
              <a:rPr lang="en-US" altLang="en-US" sz="1600" noProof="1">
                <a:solidFill>
                  <a:srgbClr val="800000"/>
                </a:solidFill>
              </a:rPr>
              <a:t>a </a:t>
            </a:r>
            <a:r>
              <a:rPr lang="en-US" altLang="en-US" sz="1600" noProof="1">
                <a:solidFill>
                  <a:srgbClr val="FF0000"/>
                </a:solidFill>
              </a:rPr>
              <a:t>href</a:t>
            </a:r>
            <a:r>
              <a:rPr lang="en-US" altLang="en-US" sz="1600" noProof="1">
                <a:solidFill>
                  <a:srgbClr val="0000FF"/>
                </a:solidFill>
              </a:rPr>
              <a:t>="http://www.msn.com"&gt;MSN&lt;/</a:t>
            </a:r>
            <a:r>
              <a:rPr lang="en-US" altLang="en-US" sz="1600" noProof="1">
                <a:solidFill>
                  <a:srgbClr val="800000"/>
                </a:solidFill>
              </a:rPr>
              <a:t>a</a:t>
            </a:r>
            <a:r>
              <a:rPr lang="en-US" altLang="en-US" sz="1600" noProof="1">
                <a:solidFill>
                  <a:srgbClr val="0000FF"/>
                </a:solidFill>
              </a:rPr>
              <a:t>&gt;&lt;/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&lt;/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580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Unordered Lists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8" y="1431926"/>
            <a:ext cx="7643812" cy="48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3263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Represent hierarchical relationships</a:t>
            </a:r>
          </a:p>
          <a:p>
            <a:pPr eaLnBrk="1" hangingPunct="1"/>
            <a:r>
              <a:rPr lang="en-US" altLang="en-US"/>
              <a:t>Ordered lists (</a:t>
            </a:r>
            <a:r>
              <a:rPr lang="en-US" altLang="en-US" sz="2800">
                <a:latin typeface="Lucida Console" panose="020B0609040504020204" pitchFamily="49" charset="0"/>
              </a:rPr>
              <a:t>ol</a:t>
            </a:r>
            <a:r>
              <a:rPr lang="en-US" altLang="en-US"/>
              <a:t>)</a:t>
            </a:r>
          </a:p>
          <a:p>
            <a:pPr lvl="1" eaLnBrk="1" hangingPunct="1"/>
            <a:r>
              <a:rPr lang="en-US" altLang="en-US"/>
              <a:t>Creates a list in which each item begins with a number</a:t>
            </a:r>
          </a:p>
          <a:p>
            <a:pPr eaLnBrk="1" hangingPunct="1"/>
            <a:endParaRPr lang="en-US" alt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Nested and Ordered Lists</a:t>
            </a:r>
          </a:p>
        </p:txBody>
      </p:sp>
    </p:spTree>
    <p:extLst>
      <p:ext uri="{BB962C8B-B14F-4D97-AF65-F5344CB8AC3E}">
        <p14:creationId xmlns:p14="http://schemas.microsoft.com/office/powerpoint/2010/main" val="17436780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Nested and Ordered Lists</a:t>
            </a:r>
          </a:p>
        </p:txBody>
      </p:sp>
      <p:sp>
        <p:nvSpPr>
          <p:cNvPr id="53251" name="Rectangle 6"/>
          <p:cNvSpPr>
            <a:spLocks noChangeArrowheads="1"/>
          </p:cNvSpPr>
          <p:nvPr/>
        </p:nvSpPr>
        <p:spPr bwMode="auto">
          <a:xfrm>
            <a:off x="1909764" y="1393825"/>
            <a:ext cx="8226425" cy="5068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800000"/>
                </a:solidFill>
              </a:rPr>
              <a:t>&lt;html&gt;</a:t>
            </a:r>
            <a:endParaRPr lang="en-US" altLang="en-US" sz="16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meta </a:t>
            </a:r>
            <a:r>
              <a:rPr lang="en-US" altLang="en-US" sz="16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&gt;Nested List&lt;/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h1</a:t>
            </a:r>
            <a:r>
              <a:rPr lang="en-US" altLang="en-US" sz="1600" noProof="1">
                <a:solidFill>
                  <a:srgbClr val="0000FF"/>
                </a:solidFill>
              </a:rPr>
              <a:t>&gt;The Best Features of the Internet&lt;/</a:t>
            </a:r>
            <a:r>
              <a:rPr lang="en-US" altLang="en-US" sz="1600" noProof="1">
                <a:solidFill>
                  <a:srgbClr val="800000"/>
                </a:solidFill>
              </a:rPr>
              <a:t>h1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/>
              <a:t>   </a:t>
            </a:r>
            <a:r>
              <a:rPr lang="en-US" altLang="en-US" sz="1600" noProof="1">
                <a:solidFill>
                  <a:srgbClr val="008000"/>
                </a:solidFill>
              </a:rPr>
              <a:t>&lt;!-- create an unordered list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&gt;You can meet new friend from countries around the world.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&gt;You have access to new media as it becomes public: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970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Nested and Ordered Lists</a:t>
            </a: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1947864" y="1431925"/>
            <a:ext cx="8226425" cy="5068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008000"/>
                </a:solidFill>
              </a:rPr>
              <a:t>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this starts a nested list, which uses a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&lt;!-- modified bullet. The list ends when you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&lt;!-- close the &lt;ul&gt; tag.               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&gt;New games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&gt;New applications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nested ordered list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ol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&gt;For business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&gt;For fun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ol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</a:t>
            </a:r>
            <a:r>
              <a:rPr lang="en-US" altLang="en-US" sz="1600">
                <a:solidFill>
                  <a:srgbClr val="0000FF"/>
                </a:solidFill>
              </a:rPr>
              <a:t>   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&gt;Around the clock news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&gt;Search engines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159536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Nested and Ordered Lists</a:t>
            </a:r>
          </a:p>
        </p:txBody>
      </p:sp>
      <p:sp>
        <p:nvSpPr>
          <p:cNvPr id="55299" name="Rectangle 5"/>
          <p:cNvSpPr>
            <a:spLocks noChangeArrowheads="1"/>
          </p:cNvSpPr>
          <p:nvPr/>
        </p:nvSpPr>
        <p:spPr bwMode="auto">
          <a:xfrm>
            <a:off x="2025651" y="1431926"/>
            <a:ext cx="8226425" cy="5146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&gt;Shopping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&gt;Programming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another nested ordered list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ol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&gt;XHTML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&gt;C#</a:t>
            </a:r>
            <a:r>
              <a:rPr lang="en-US" altLang="en-US" sz="1600" noProof="1">
                <a:solidFill>
                  <a:srgbClr val="FF0000"/>
                </a:solidFill>
              </a:rPr>
              <a:t>&amp;nbsp;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&gt;XML</a:t>
            </a:r>
            <a:r>
              <a:rPr lang="en-US" altLang="en-US" sz="1600" noProof="1">
                <a:solidFill>
                  <a:srgbClr val="FF0000"/>
                </a:solidFill>
              </a:rPr>
              <a:t>&amp;nbsp;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&gt;JavaScripts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&gt;New languages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ol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ends the nested list of line 27 --&gt;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</a:t>
            </a: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02814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Nested and Ordered Lists</a:t>
            </a:r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1985964" y="1592263"/>
            <a:ext cx="8226425" cy="2144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/>
              <a:t>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&gt;Links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&gt;Keeping in touch with old friends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&gt;It is the technology of the future! &lt;/</a:t>
            </a:r>
            <a:r>
              <a:rPr lang="en-US" altLang="en-US" sz="1600" noProof="1">
                <a:solidFill>
                  <a:srgbClr val="800000"/>
                </a:solidFill>
              </a:rPr>
              <a:t>li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&lt;/</a:t>
            </a:r>
            <a:r>
              <a:rPr lang="en-US" altLang="en-US" sz="1600" noProof="1">
                <a:solidFill>
                  <a:srgbClr val="800000"/>
                </a:solidFill>
              </a:rPr>
              <a:t>ul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noProof="1">
              <a:solidFill>
                <a:srgbClr val="0000FF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502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Nested and Ordered Lists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1393826"/>
            <a:ext cx="7335838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5470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Present information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Organize data into rows and columns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>
                <a:latin typeface="Lucida Console" panose="020B0609040504020204" pitchFamily="49" charset="0"/>
              </a:rPr>
              <a:t>table</a:t>
            </a:r>
            <a:r>
              <a:rPr lang="en-US" altLang="en-US" sz="2800"/>
              <a:t>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/>
              <a:t>Attribute border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Specifies the table’s border width in pixels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/>
              <a:t>Attribute summary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Describes the table’s contents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500"/>
              <a:t>Attribute caption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Describes the table’s content and helps text-based browsers interpret table data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</p:spTree>
    <p:extLst>
      <p:ext uri="{BB962C8B-B14F-4D97-AF65-F5344CB8AC3E}">
        <p14:creationId xmlns:p14="http://schemas.microsoft.com/office/powerpoint/2010/main" val="4111160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00">
                <a:latin typeface="Lucida Console" panose="020B0609040504020204" pitchFamily="49" charset="0"/>
              </a:rPr>
              <a:t>table</a:t>
            </a:r>
            <a:r>
              <a:rPr lang="en-US" altLang="en-US" sz="2800"/>
              <a:t> element</a:t>
            </a:r>
          </a:p>
          <a:p>
            <a:pPr lvl="1" eaLnBrk="1" hangingPunct="1"/>
            <a:r>
              <a:rPr lang="en-US" altLang="en-US" sz="2500"/>
              <a:t>Head section (header cell, defined with a </a:t>
            </a:r>
            <a:r>
              <a:rPr lang="en-US" altLang="en-US" sz="2200">
                <a:solidFill>
                  <a:srgbClr val="FF3300"/>
                </a:solidFill>
                <a:latin typeface="Lucida Console" panose="020B0609040504020204" pitchFamily="49" charset="0"/>
              </a:rPr>
              <a:t>thead</a:t>
            </a:r>
            <a:r>
              <a:rPr lang="en-US" altLang="en-US" sz="2500"/>
              <a:t> element)</a:t>
            </a:r>
          </a:p>
          <a:p>
            <a:pPr lvl="2" eaLnBrk="1" hangingPunct="1"/>
            <a:r>
              <a:rPr lang="en-US" altLang="en-US" sz="2000"/>
              <a:t>Contains header information such as column names</a:t>
            </a:r>
          </a:p>
          <a:p>
            <a:pPr lvl="2" eaLnBrk="1" hangingPunct="1"/>
            <a:r>
              <a:rPr lang="en-US" altLang="en-US" sz="2000">
                <a:solidFill>
                  <a:srgbClr val="FF3300"/>
                </a:solidFill>
                <a:latin typeface="Lucida Console" panose="020B0609040504020204" pitchFamily="49" charset="0"/>
              </a:rPr>
              <a:t>tr</a:t>
            </a:r>
            <a:r>
              <a:rPr lang="en-US" altLang="en-US" sz="2000"/>
              <a:t> element (defines an individual table row)</a:t>
            </a:r>
          </a:p>
          <a:p>
            <a:pPr lvl="2" eaLnBrk="1" hangingPunct="1"/>
            <a:r>
              <a:rPr lang="en-US" altLang="en-US" sz="2000">
                <a:solidFill>
                  <a:srgbClr val="FF3300"/>
                </a:solidFill>
                <a:latin typeface="Lucida Console" panose="020B0609040504020204" pitchFamily="49" charset="0"/>
              </a:rPr>
              <a:t>th</a:t>
            </a:r>
            <a:r>
              <a:rPr lang="en-US" altLang="en-US" sz="2000"/>
              <a:t> element (defines the columns in the head section)</a:t>
            </a:r>
          </a:p>
          <a:p>
            <a:pPr lvl="1" eaLnBrk="1" hangingPunct="1"/>
            <a:r>
              <a:rPr lang="en-US" altLang="en-US" sz="2500"/>
              <a:t>Foot section (defined with a </a:t>
            </a:r>
            <a:r>
              <a:rPr lang="en-US" altLang="en-US" sz="2200">
                <a:solidFill>
                  <a:srgbClr val="FF3300"/>
                </a:solidFill>
                <a:latin typeface="Lucida Console" panose="020B0609040504020204" pitchFamily="49" charset="0"/>
              </a:rPr>
              <a:t>tfoot</a:t>
            </a:r>
            <a:r>
              <a:rPr lang="en-US" altLang="en-US" sz="2500"/>
              <a:t> element)</a:t>
            </a:r>
          </a:p>
          <a:p>
            <a:pPr lvl="1" eaLnBrk="1" hangingPunct="1"/>
            <a:r>
              <a:rPr lang="en-US" altLang="en-US" sz="2500"/>
              <a:t>Table body (defined with a </a:t>
            </a:r>
            <a:r>
              <a:rPr lang="en-US" altLang="en-US" sz="2200">
                <a:solidFill>
                  <a:srgbClr val="FF3300"/>
                </a:solidFill>
                <a:latin typeface="Lucida Console" panose="020B0609040504020204" pitchFamily="49" charset="0"/>
              </a:rPr>
              <a:t>tbody</a:t>
            </a:r>
            <a:r>
              <a:rPr lang="en-US" altLang="en-US" sz="2500"/>
              <a:t> element)</a:t>
            </a:r>
          </a:p>
          <a:p>
            <a:pPr lvl="1" eaLnBrk="1" hangingPunct="1"/>
            <a:r>
              <a:rPr lang="en-US" altLang="en-US" sz="2500"/>
              <a:t>Data cells (defined with </a:t>
            </a:r>
            <a:r>
              <a:rPr lang="en-US" altLang="en-US" sz="2200">
                <a:solidFill>
                  <a:srgbClr val="FF3300"/>
                </a:solidFill>
                <a:latin typeface="Lucida Console" panose="020B0609040504020204" pitchFamily="49" charset="0"/>
              </a:rPr>
              <a:t>td</a:t>
            </a:r>
            <a:r>
              <a:rPr lang="en-US" altLang="en-US" sz="2500"/>
              <a:t> element)</a:t>
            </a:r>
          </a:p>
          <a:p>
            <a:pPr eaLnBrk="1" hangingPunct="1"/>
            <a:endParaRPr lang="en-US" altLang="en-US" sz="2800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</p:spTree>
    <p:extLst>
      <p:ext uri="{BB962C8B-B14F-4D97-AF65-F5344CB8AC3E}">
        <p14:creationId xmlns:p14="http://schemas.microsoft.com/office/powerpoint/2010/main" val="17657755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  <p:sp>
        <p:nvSpPr>
          <p:cNvPr id="60419" name="Rectangle 5"/>
          <p:cNvSpPr>
            <a:spLocks noChangeArrowheads="1"/>
          </p:cNvSpPr>
          <p:nvPr/>
        </p:nvSpPr>
        <p:spPr bwMode="auto">
          <a:xfrm>
            <a:off x="1871664" y="1239838"/>
            <a:ext cx="8226425" cy="5338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800000"/>
                </a:solidFill>
              </a:rPr>
              <a:t>&lt;html&gt;</a:t>
            </a:r>
            <a:endParaRPr lang="en-US" altLang="en-US" sz="16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meta </a:t>
            </a:r>
            <a:r>
              <a:rPr lang="en-US" altLang="en-US" sz="16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&gt;Creating a Basic Table&lt;/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table </a:t>
            </a:r>
            <a:r>
              <a:rPr lang="en-US" altLang="en-US" sz="1600" noProof="1">
                <a:solidFill>
                  <a:srgbClr val="FF0000"/>
                </a:solidFill>
              </a:rPr>
              <a:t>border</a:t>
            </a:r>
            <a:r>
              <a:rPr lang="en-US" altLang="en-US" sz="1600" noProof="1">
                <a:solidFill>
                  <a:srgbClr val="0000FF"/>
                </a:solidFill>
              </a:rPr>
              <a:t>="1" </a:t>
            </a:r>
            <a:r>
              <a:rPr lang="en-US" altLang="en-US" sz="1600" noProof="1">
                <a:solidFill>
                  <a:srgbClr val="FF0000"/>
                </a:solidFill>
              </a:rPr>
              <a:t>summary</a:t>
            </a:r>
            <a:r>
              <a:rPr lang="en-US" altLang="en-US" sz="1600" noProof="1">
                <a:solidFill>
                  <a:srgbClr val="0000FF"/>
                </a:solidFill>
              </a:rPr>
              <a:t>="This table provides information about the price of fruit" </a:t>
            </a:r>
            <a:r>
              <a:rPr lang="en-US" altLang="en-US" sz="1600" noProof="1">
                <a:solidFill>
                  <a:srgbClr val="FF0000"/>
                </a:solidFill>
              </a:rPr>
              <a:t>width</a:t>
            </a:r>
            <a:r>
              <a:rPr lang="en-US" altLang="en-US" sz="1600" noProof="1">
                <a:solidFill>
                  <a:srgbClr val="0000FF"/>
                </a:solidFill>
              </a:rPr>
              <a:t>="40%"&gt;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caption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Price of Fruit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caption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/>
              <a:t>       </a:t>
            </a:r>
            <a:r>
              <a:rPr lang="en-US" altLang="en-US" sz="1600" noProof="1">
                <a:solidFill>
                  <a:srgbClr val="008000"/>
                </a:solidFill>
              </a:rPr>
              <a:t>&lt;!-- the &lt;thead&gt; is the first section of a table --&gt;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&lt;!-- it formats the table header area      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997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17738" y="-180975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  <p:sp>
        <p:nvSpPr>
          <p:cNvPr id="61443" name="Rectangle 5"/>
          <p:cNvSpPr>
            <a:spLocks noChangeArrowheads="1"/>
          </p:cNvSpPr>
          <p:nvPr/>
        </p:nvSpPr>
        <p:spPr bwMode="auto">
          <a:xfrm>
            <a:off x="1755776" y="779464"/>
            <a:ext cx="8226425" cy="579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</a:rPr>
              <a:t>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&lt;tr&gt; inserts a table row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insert a heading cell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&gt;Fruit&lt;/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&gt;Price&lt;/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thead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the &lt;tfoot&gt; is the last section of a table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&lt;!-- it formats the table footer          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tfoot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&gt;Total&lt;/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&gt;$3.75&lt;/</a:t>
            </a:r>
            <a:r>
              <a:rPr lang="en-US" altLang="en-US" sz="1600" noProof="1">
                <a:solidFill>
                  <a:srgbClr val="800000"/>
                </a:solidFill>
              </a:rPr>
              <a:t>th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&lt;/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tfoot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771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  <p:sp>
        <p:nvSpPr>
          <p:cNvPr id="62467" name="Rectangle 5"/>
          <p:cNvSpPr>
            <a:spLocks noChangeArrowheads="1"/>
          </p:cNvSpPr>
          <p:nvPr/>
        </p:nvSpPr>
        <p:spPr bwMode="auto">
          <a:xfrm>
            <a:off x="1985964" y="1277939"/>
            <a:ext cx="8226425" cy="5146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/>
              <a:t>       </a:t>
            </a:r>
            <a:r>
              <a:rPr lang="en-US" altLang="en-US" sz="1600" noProof="1">
                <a:solidFill>
                  <a:srgbClr val="008000"/>
                </a:solidFill>
              </a:rPr>
              <a:t>&lt;!-- all table content is enclosed within the &lt;tbody&gt;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insert a data cell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&gt;Apple&lt;/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&gt;$0.25&lt;/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&gt;Orange&lt;/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&gt;$0.50&lt;/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&gt;Banana&lt;/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&gt;$1.00&lt;/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3434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1985964" y="1585913"/>
            <a:ext cx="8226425" cy="2151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/>
              <a:t>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&gt;Pineapple&lt;/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&gt;$2.00&lt;/</a:t>
            </a:r>
            <a:r>
              <a:rPr lang="en-US" altLang="en-US" sz="1600" noProof="1">
                <a:solidFill>
                  <a:srgbClr val="800000"/>
                </a:solidFill>
              </a:rPr>
              <a:t>td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tr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&lt;/</a:t>
            </a:r>
            <a:r>
              <a:rPr lang="en-US" altLang="en-US" sz="1600" noProof="1">
                <a:solidFill>
                  <a:srgbClr val="800000"/>
                </a:solidFill>
              </a:rPr>
              <a:t>table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853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Tables</a:t>
            </a:r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1585914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4592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Element </a:t>
            </a:r>
            <a:r>
              <a:rPr lang="en-US" altLang="en-US" sz="2400">
                <a:latin typeface="Lucida Console" panose="020B0609040504020204" pitchFamily="49" charset="0"/>
              </a:rPr>
              <a:t>colgroup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Groups and formats columns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Element </a:t>
            </a:r>
            <a:r>
              <a:rPr lang="en-US" altLang="en-US" sz="2400">
                <a:latin typeface="Lucida Console" panose="020B0609040504020204" pitchFamily="49" charset="0"/>
              </a:rPr>
              <a:t>col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Attribute </a:t>
            </a:r>
            <a:r>
              <a:rPr lang="en-US" altLang="en-US" sz="2200">
                <a:latin typeface="Lucida Console" panose="020B0609040504020204" pitchFamily="49" charset="0"/>
              </a:rPr>
              <a:t>align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Determines the alignment of text in the column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Attribute </a:t>
            </a:r>
            <a:r>
              <a:rPr lang="en-US" altLang="en-US" sz="2200">
                <a:latin typeface="Lucida Console" panose="020B0609040504020204" pitchFamily="49" charset="0"/>
              </a:rPr>
              <a:t>span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Determines how many columns the col element formats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latin typeface="Lucida Console" panose="020B0609040504020204" pitchFamily="49" charset="0"/>
              </a:rPr>
              <a:t>rowspan</a:t>
            </a:r>
            <a:r>
              <a:rPr lang="en-US" altLang="en-US" sz="2000"/>
              <a:t> and </a:t>
            </a:r>
            <a:r>
              <a:rPr lang="en-US" altLang="en-US" sz="1800">
                <a:latin typeface="Lucida Console" panose="020B0609040504020204" pitchFamily="49" charset="0"/>
              </a:rPr>
              <a:t>colspan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/>
              <a:t>Specify the number of rows or columns occupied by a cell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latin typeface="Lucida Console" panose="020B0609040504020204" pitchFamily="49" charset="0"/>
              </a:rPr>
              <a:t>valign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Aligns data vertically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One of the four values: “</a:t>
            </a:r>
            <a:r>
              <a:rPr lang="en-US" altLang="en-US" sz="1800">
                <a:latin typeface="Lucida Console" panose="020B0609040504020204" pitchFamily="49" charset="0"/>
              </a:rPr>
              <a:t>top</a:t>
            </a:r>
            <a:r>
              <a:rPr lang="en-US" altLang="en-US" sz="2000"/>
              <a:t>”, “</a:t>
            </a:r>
            <a:r>
              <a:rPr lang="en-US" altLang="en-US" sz="1800">
                <a:latin typeface="Lucida Console" panose="020B0609040504020204" pitchFamily="49" charset="0"/>
              </a:rPr>
              <a:t>middle</a:t>
            </a:r>
            <a:r>
              <a:rPr lang="en-US" altLang="en-US" sz="2000"/>
              <a:t>”, “</a:t>
            </a:r>
            <a:r>
              <a:rPr lang="en-US" altLang="en-US" sz="1800">
                <a:latin typeface="Lucida Console" panose="020B0609040504020204" pitchFamily="49" charset="0"/>
              </a:rPr>
              <a:t>bottom</a:t>
            </a:r>
            <a:r>
              <a:rPr lang="en-US" altLang="en-US" sz="2000"/>
              <a:t>”, “</a:t>
            </a:r>
            <a:r>
              <a:rPr lang="en-US" altLang="en-US" sz="1800">
                <a:latin typeface="Lucida Console" panose="020B0609040504020204" pitchFamily="49" charset="0"/>
              </a:rPr>
              <a:t>baseline</a:t>
            </a:r>
            <a:r>
              <a:rPr lang="en-US" altLang="en-US" sz="2000"/>
              <a:t>”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cs typeface="Times New Roman" panose="02020603050405020304" pitchFamily="18" charset="0"/>
              </a:rPr>
              <a:t>Intermediate Tables and Formatting</a:t>
            </a:r>
          </a:p>
        </p:txBody>
      </p:sp>
    </p:spTree>
    <p:extLst>
      <p:ext uri="{BB962C8B-B14F-4D97-AF65-F5344CB8AC3E}">
        <p14:creationId xmlns:p14="http://schemas.microsoft.com/office/powerpoint/2010/main" val="31194255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cs typeface="Times New Roman" panose="02020603050405020304" pitchFamily="18" charset="0"/>
              </a:rPr>
              <a:t>Intermediate Tables and Formatting</a:t>
            </a:r>
          </a:p>
        </p:txBody>
      </p:sp>
      <p:sp>
        <p:nvSpPr>
          <p:cNvPr id="66563" name="Rectangle 5"/>
          <p:cNvSpPr>
            <a:spLocks noChangeArrowheads="1"/>
          </p:cNvSpPr>
          <p:nvPr/>
        </p:nvSpPr>
        <p:spPr bwMode="auto">
          <a:xfrm>
            <a:off x="1755776" y="1047751"/>
            <a:ext cx="8226425" cy="5453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800000"/>
                </a:solidFill>
              </a:rPr>
              <a:t>&lt;html&gt;</a:t>
            </a:r>
            <a:endParaRPr lang="en-US" altLang="en-US" sz="14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meta </a:t>
            </a:r>
            <a:r>
              <a:rPr lang="en-US" altLang="en-US" sz="14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&gt;Untitled Page&lt;/</a:t>
            </a:r>
            <a:r>
              <a:rPr lang="en-US" altLang="en-US" sz="1400" noProof="1">
                <a:solidFill>
                  <a:srgbClr val="800000"/>
                </a:solidFill>
              </a:rPr>
              <a:t>title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h1</a:t>
            </a:r>
            <a:r>
              <a:rPr lang="en-US" altLang="en-US" sz="1400" noProof="1">
                <a:solidFill>
                  <a:srgbClr val="0000FF"/>
                </a:solidFill>
              </a:rPr>
              <a:t>&gt;Table Example Page&lt;/</a:t>
            </a:r>
            <a:r>
              <a:rPr lang="en-US" altLang="en-US" sz="1400" noProof="1">
                <a:solidFill>
                  <a:srgbClr val="800000"/>
                </a:solidFill>
              </a:rPr>
              <a:t>h1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</a:t>
            </a:r>
            <a:r>
              <a:rPr lang="en-US" altLang="en-US" sz="1400" noProof="1">
                <a:solidFill>
                  <a:srgbClr val="800000"/>
                </a:solidFill>
              </a:rPr>
              <a:t>table </a:t>
            </a:r>
            <a:r>
              <a:rPr lang="en-US" altLang="en-US" sz="1400" noProof="1">
                <a:solidFill>
                  <a:srgbClr val="FF0000"/>
                </a:solidFill>
              </a:rPr>
              <a:t>border</a:t>
            </a:r>
            <a:r>
              <a:rPr lang="en-US" altLang="en-US" sz="1400" noProof="1">
                <a:solidFill>
                  <a:srgbClr val="0000FF"/>
                </a:solidFill>
              </a:rPr>
              <a:t>="1"&gt;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&lt;</a:t>
            </a:r>
            <a:r>
              <a:rPr lang="en-US" altLang="en-US" sz="1400" noProof="1">
                <a:solidFill>
                  <a:srgbClr val="800000"/>
                </a:solidFill>
              </a:rPr>
              <a:t>caption</a:t>
            </a:r>
            <a:r>
              <a:rPr lang="en-US" altLang="en-US" sz="1400" noProof="1">
                <a:solidFill>
                  <a:srgbClr val="0000FF"/>
                </a:solidFill>
              </a:rPr>
              <a:t>&gt; Here is a more complex sample table.&lt;/</a:t>
            </a:r>
            <a:r>
              <a:rPr lang="en-US" altLang="en-US" sz="1400" noProof="1">
                <a:solidFill>
                  <a:srgbClr val="800000"/>
                </a:solidFill>
              </a:rPr>
              <a:t>caption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</a:t>
            </a:r>
            <a:r>
              <a:rPr lang="en-US" altLang="en-US" sz="1400" noProof="1">
                <a:solidFill>
                  <a:srgbClr val="008000"/>
                </a:solidFill>
              </a:rPr>
              <a:t>&lt;!-- &lt;colgroup&gt; and &lt;col&gt; tags are used to format entire columns       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8000"/>
                </a:solidFill>
              </a:rPr>
              <a:t>        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colgroup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</a:t>
            </a:r>
            <a:r>
              <a:rPr lang="en-US" altLang="en-US" sz="1400" noProof="1">
                <a:solidFill>
                  <a:srgbClr val="008000"/>
                </a:solidFill>
              </a:rPr>
              <a:t>&lt;!-- span attribute determines how many columns the &lt;col&gt; tag affects</a:t>
            </a:r>
            <a:r>
              <a:rPr lang="en-US" altLang="en-US" sz="1400">
                <a:solidFill>
                  <a:srgbClr val="008000"/>
                </a:solidFill>
              </a:rPr>
              <a:t> </a:t>
            </a:r>
            <a:r>
              <a:rPr lang="en-US" altLang="en-US" sz="1400" noProof="1">
                <a:solidFill>
                  <a:srgbClr val="008000"/>
                </a:solidFill>
              </a:rPr>
              <a:t>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8000"/>
                </a:solidFill>
              </a:rPr>
              <a:t>            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col </a:t>
            </a:r>
            <a:r>
              <a:rPr lang="en-US" altLang="en-US" sz="1400" noProof="1">
                <a:solidFill>
                  <a:srgbClr val="FF0000"/>
                </a:solidFill>
              </a:rPr>
              <a:t>align</a:t>
            </a:r>
            <a:r>
              <a:rPr lang="en-US" altLang="en-US" sz="1400" noProof="1">
                <a:solidFill>
                  <a:srgbClr val="0000FF"/>
                </a:solidFill>
              </a:rPr>
              <a:t>="right" 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&lt;/</a:t>
            </a:r>
            <a:r>
              <a:rPr lang="en-US" altLang="en-US" sz="1400" noProof="1">
                <a:solidFill>
                  <a:srgbClr val="800000"/>
                </a:solidFill>
              </a:rPr>
              <a:t>colgroup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  <a:endParaRPr lang="en-US" altLang="en-US" sz="14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207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cs typeface="Times New Roman" panose="02020603050405020304" pitchFamily="18" charset="0"/>
              </a:rPr>
              <a:t>Intermediate Tables and Formatting</a:t>
            </a:r>
          </a:p>
        </p:txBody>
      </p:sp>
      <p:sp>
        <p:nvSpPr>
          <p:cNvPr id="67587" name="Rectangle 5"/>
          <p:cNvSpPr>
            <a:spLocks noChangeArrowheads="1"/>
          </p:cNvSpPr>
          <p:nvPr/>
        </p:nvSpPr>
        <p:spPr bwMode="auto">
          <a:xfrm>
            <a:off x="1909764" y="1123951"/>
            <a:ext cx="8226425" cy="5300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/>
              <a:t> </a:t>
            </a:r>
            <a:r>
              <a:rPr lang="en-US" altLang="en-US" sz="1400"/>
              <a:t>        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thead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</a:t>
            </a:r>
            <a:r>
              <a:rPr lang="en-US" altLang="en-US" sz="1400" noProof="1">
                <a:solidFill>
                  <a:srgbClr val="008000"/>
                </a:solidFill>
              </a:rPr>
              <a:t>&lt;!-- rowspans and colspans merge the specified number of cells vertically or horizontally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8000"/>
                </a:solidFill>
              </a:rPr>
              <a:t>            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>
                <a:solidFill>
                  <a:srgbClr val="0000FF"/>
                </a:solidFill>
              </a:rPr>
              <a:t>                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th </a:t>
            </a:r>
            <a:r>
              <a:rPr lang="en-US" altLang="en-US" sz="1400" noProof="1">
                <a:solidFill>
                  <a:srgbClr val="FF0000"/>
                </a:solidFill>
              </a:rPr>
              <a:t>rowspan</a:t>
            </a:r>
            <a:r>
              <a:rPr lang="en-US" altLang="en-US" sz="1400" noProof="1">
                <a:solidFill>
                  <a:srgbClr val="0000FF"/>
                </a:solidFill>
              </a:rPr>
              <a:t>="2"&gt;</a:t>
            </a:r>
            <a:r>
              <a:rPr lang="en-US" altLang="en-US" sz="1400" noProof="1">
                <a:solidFill>
                  <a:srgbClr val="008000"/>
                </a:solidFill>
              </a:rPr>
              <a:t>&lt;!-- merge two rows --&gt;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img </a:t>
            </a:r>
            <a:r>
              <a:rPr lang="en-US" altLang="en-US" sz="1400" noProof="1">
                <a:solidFill>
                  <a:srgbClr val="FF0000"/>
                </a:solidFill>
              </a:rPr>
              <a:t>src</a:t>
            </a:r>
            <a:r>
              <a:rPr lang="en-US" altLang="en-US" sz="1400" noProof="1">
                <a:solidFill>
                  <a:srgbClr val="0000FF"/>
                </a:solidFill>
              </a:rPr>
              <a:t>="shrek.gif" </a:t>
            </a:r>
            <a:r>
              <a:rPr lang="en-US" altLang="en-US" sz="1400" noProof="1">
                <a:solidFill>
                  <a:srgbClr val="FF0000"/>
                </a:solidFill>
              </a:rPr>
              <a:t>height</a:t>
            </a:r>
            <a:r>
              <a:rPr lang="en-US" altLang="en-US" sz="1400" noProof="1">
                <a:solidFill>
                  <a:srgbClr val="0000FF"/>
                </a:solidFill>
              </a:rPr>
              <a:t>="192" /&gt;</a:t>
            </a:r>
            <a:r>
              <a:rPr lang="en-US" altLang="en-US" sz="1400" noProof="1">
                <a:solidFill>
                  <a:srgbClr val="FF0000"/>
                </a:solidFill>
              </a:rPr>
              <a:t>&amp;nbsp;</a:t>
            </a: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 </a:t>
            </a:r>
            <a:r>
              <a:rPr lang="en-US" altLang="en-US" sz="1400" noProof="1">
                <a:solidFill>
                  <a:srgbClr val="FF0000"/>
                </a:solidFill>
              </a:rPr>
              <a:t>colspan</a:t>
            </a:r>
            <a:r>
              <a:rPr lang="en-US" altLang="en-US" sz="1400" noProof="1">
                <a:solidFill>
                  <a:srgbClr val="0000FF"/>
                </a:solidFill>
              </a:rPr>
              <a:t>="4" </a:t>
            </a:r>
            <a:r>
              <a:rPr lang="en-US" altLang="en-US" sz="1400" noProof="1">
                <a:solidFill>
                  <a:srgbClr val="FF0000"/>
                </a:solidFill>
              </a:rPr>
              <a:t>valign</a:t>
            </a:r>
            <a:r>
              <a:rPr lang="en-US" altLang="en-US" sz="1400" noProof="1">
                <a:solidFill>
                  <a:srgbClr val="0000FF"/>
                </a:solidFill>
              </a:rPr>
              <a:t>="top"&gt; </a:t>
            </a:r>
            <a:r>
              <a:rPr lang="en-US" altLang="en-US" sz="1400" noProof="1">
                <a:solidFill>
                  <a:srgbClr val="008000"/>
                </a:solidFill>
              </a:rPr>
              <a:t>&lt;!-- merge four columns --&gt;</a:t>
            </a:r>
            <a:endParaRPr lang="en-US" altLang="en-US" sz="1400" noProof="1">
              <a:solidFill>
                <a:srgbClr val="0000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h1</a:t>
            </a:r>
            <a:r>
              <a:rPr lang="en-US" altLang="en-US" sz="1400" noProof="1">
                <a:solidFill>
                  <a:srgbClr val="0000FF"/>
                </a:solidFill>
              </a:rPr>
              <a:t>&gt;Shrek&lt;/</a:t>
            </a:r>
            <a:r>
              <a:rPr lang="en-US" altLang="en-US" sz="1400" noProof="1">
                <a:solidFill>
                  <a:srgbClr val="800000"/>
                </a:solidFill>
              </a:rPr>
              <a:t>h1</a:t>
            </a:r>
            <a:r>
              <a:rPr lang="en-US" altLang="en-US" sz="1400" noProof="1">
                <a:solidFill>
                  <a:srgbClr val="0000FF"/>
                </a:solidFill>
              </a:rPr>
              <a:t>&gt;&lt;</a:t>
            </a:r>
            <a:r>
              <a:rPr lang="en-US" altLang="en-US" sz="1400" noProof="1">
                <a:solidFill>
                  <a:srgbClr val="800000"/>
                </a:solidFill>
              </a:rPr>
              <a:t>br </a:t>
            </a:r>
            <a:r>
              <a:rPr lang="en-US" altLang="en-US" sz="1400" noProof="1">
                <a:solidFill>
                  <a:srgbClr val="0000FF"/>
                </a:solidFill>
              </a:rPr>
              <a:t>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p</a:t>
            </a:r>
            <a:r>
              <a:rPr lang="en-US" altLang="en-US" sz="1400" noProof="1">
                <a:solidFill>
                  <a:srgbClr val="0000FF"/>
                </a:solidFill>
              </a:rPr>
              <a:t>&gt;As for 2007&lt;/</a:t>
            </a:r>
            <a:r>
              <a:rPr lang="en-US" altLang="en-US" sz="1400" noProof="1">
                <a:solidFill>
                  <a:srgbClr val="800000"/>
                </a:solidFill>
              </a:rPr>
              <a:t>p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&lt;/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tr </a:t>
            </a:r>
            <a:r>
              <a:rPr lang="en-US" altLang="en-US" sz="1400" noProof="1">
                <a:solidFill>
                  <a:srgbClr val="FF0000"/>
                </a:solidFill>
              </a:rPr>
              <a:t>valign</a:t>
            </a:r>
            <a:r>
              <a:rPr lang="en-US" altLang="en-US" sz="1400" noProof="1">
                <a:solidFill>
                  <a:srgbClr val="0000FF"/>
                </a:solidFill>
              </a:rPr>
              <a:t>="bottom"&gt;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&gt;Shrek 1 (2001)&lt;/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&gt;Shrek 2 (2004)&lt;/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&gt;Shrek 3 (2007)&lt;/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&gt;Shrek 4 (?)&lt;/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&lt;/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&lt;/</a:t>
            </a:r>
            <a:r>
              <a:rPr lang="en-US" altLang="en-US" sz="1400" noProof="1">
                <a:solidFill>
                  <a:srgbClr val="800000"/>
                </a:solidFill>
              </a:rPr>
              <a:t>thead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  <a:endParaRPr lang="en-US" altLang="en-US" sz="14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43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cs typeface="Times New Roman" panose="02020603050405020304" pitchFamily="18" charset="0"/>
              </a:rPr>
              <a:t>Intermediate Tables and Formatting</a:t>
            </a:r>
          </a:p>
        </p:txBody>
      </p:sp>
      <p:sp>
        <p:nvSpPr>
          <p:cNvPr id="68611" name="Rectangle 5"/>
          <p:cNvSpPr>
            <a:spLocks noChangeArrowheads="1"/>
          </p:cNvSpPr>
          <p:nvPr/>
        </p:nvSpPr>
        <p:spPr bwMode="auto">
          <a:xfrm>
            <a:off x="1909764" y="1047751"/>
            <a:ext cx="8226425" cy="5453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/>
              <a:t>        </a:t>
            </a:r>
            <a:r>
              <a:rPr lang="en-US" altLang="en-US" sz="1400" noProof="1">
                <a:solidFill>
                  <a:srgbClr val="0000FF"/>
                </a:solidFill>
              </a:rPr>
              <a:t>&lt;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&gt;VCD&lt;/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&gt;Not 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&gt;Not 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&lt;/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&lt;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&gt;DVD&lt;/</a:t>
            </a:r>
            <a:r>
              <a:rPr lang="en-US" altLang="en-US" sz="1400" noProof="1">
                <a:solidFill>
                  <a:srgbClr val="800000"/>
                </a:solidFill>
              </a:rPr>
              <a:t>th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&gt;Not 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    &lt;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&gt;Not Available&lt;/</a:t>
            </a:r>
            <a:r>
              <a:rPr lang="en-US" altLang="en-US" sz="1400" noProof="1">
                <a:solidFill>
                  <a:srgbClr val="800000"/>
                </a:solidFill>
              </a:rPr>
              <a:t>td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    &lt;/</a:t>
            </a:r>
            <a:r>
              <a:rPr lang="en-US" altLang="en-US" sz="1400" noProof="1">
                <a:solidFill>
                  <a:srgbClr val="800000"/>
                </a:solidFill>
              </a:rPr>
              <a:t>tr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    &lt;/</a:t>
            </a:r>
            <a:r>
              <a:rPr lang="en-US" altLang="en-US" sz="1400" noProof="1">
                <a:solidFill>
                  <a:srgbClr val="800000"/>
                </a:solidFill>
              </a:rPr>
              <a:t>table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body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noProof="1">
                <a:solidFill>
                  <a:srgbClr val="0000FF"/>
                </a:solidFill>
              </a:rPr>
              <a:t>&lt;/</a:t>
            </a:r>
            <a:r>
              <a:rPr lang="en-US" altLang="en-US" sz="1400" noProof="1">
                <a:solidFill>
                  <a:srgbClr val="800000"/>
                </a:solidFill>
              </a:rPr>
              <a:t>html</a:t>
            </a:r>
            <a:r>
              <a:rPr lang="en-US" altLang="en-US" sz="1400" noProof="1">
                <a:solidFill>
                  <a:srgbClr val="0000FF"/>
                </a:solidFill>
              </a:rPr>
              <a:t>&gt;</a:t>
            </a:r>
            <a:endParaRPr lang="en-US" altLang="en-US" sz="14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1402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cs typeface="Times New Roman" panose="02020603050405020304" pitchFamily="18" charset="0"/>
              </a:rPr>
              <a:t>Intermediate Tables and Formatting</a:t>
            </a:r>
          </a:p>
        </p:txBody>
      </p:sp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1585914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26277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Element form</a:t>
            </a:r>
          </a:p>
          <a:p>
            <a:pPr lvl="1" eaLnBrk="1" hangingPunct="1"/>
            <a:r>
              <a:rPr lang="en-US" altLang="en-US" sz="2400"/>
              <a:t>Attribute </a:t>
            </a:r>
            <a:r>
              <a:rPr lang="en-US" altLang="en-US" sz="2400">
                <a:latin typeface="Lucida Console" panose="020B0609040504020204" pitchFamily="49" charset="0"/>
              </a:rPr>
              <a:t>method</a:t>
            </a:r>
          </a:p>
          <a:p>
            <a:pPr lvl="2" eaLnBrk="1" hangingPunct="1"/>
            <a:r>
              <a:rPr lang="en-US" altLang="en-US" sz="2000"/>
              <a:t>Specifies how the form’s data is sent to Web server</a:t>
            </a:r>
          </a:p>
          <a:p>
            <a:pPr lvl="2" eaLnBrk="1" hangingPunct="1"/>
            <a:r>
              <a:rPr lang="en-US" altLang="en-US" sz="2000">
                <a:latin typeface="Lucida Console" panose="020B0609040504020204" pitchFamily="49" charset="0"/>
              </a:rPr>
              <a:t>method = “post”</a:t>
            </a:r>
          </a:p>
          <a:p>
            <a:pPr lvl="3" eaLnBrk="1" hangingPunct="1"/>
            <a:r>
              <a:rPr lang="en-US" altLang="en-US" sz="1800"/>
              <a:t>Appends form data to the browser request</a:t>
            </a:r>
          </a:p>
          <a:p>
            <a:pPr lvl="2" eaLnBrk="1" hangingPunct="1"/>
            <a:r>
              <a:rPr lang="en-US" altLang="en-US" sz="2000">
                <a:latin typeface="Lucida Console" panose="020B0609040504020204" pitchFamily="49" charset="0"/>
              </a:rPr>
              <a:t>method = “get”</a:t>
            </a:r>
          </a:p>
          <a:p>
            <a:pPr lvl="3" eaLnBrk="1" hangingPunct="1"/>
            <a:r>
              <a:rPr lang="en-US" altLang="en-US" sz="1800"/>
              <a:t>Appends form data directly to the end of the URL</a:t>
            </a:r>
          </a:p>
          <a:p>
            <a:pPr lvl="1" eaLnBrk="1" hangingPunct="1"/>
            <a:r>
              <a:rPr lang="en-US" altLang="en-US" sz="2400"/>
              <a:t>Attribute </a:t>
            </a:r>
            <a:r>
              <a:rPr lang="en-US" altLang="en-US" sz="2400">
                <a:latin typeface="Lucida Console" panose="020B0609040504020204" pitchFamily="49" charset="0"/>
              </a:rPr>
              <a:t>action</a:t>
            </a:r>
          </a:p>
          <a:p>
            <a:pPr lvl="2" eaLnBrk="1" hangingPunct="1"/>
            <a:r>
              <a:rPr lang="en-US" altLang="en-US" sz="2000"/>
              <a:t>Specifies the URL of a script on the Web server</a:t>
            </a:r>
          </a:p>
          <a:p>
            <a:pPr lvl="1" eaLnBrk="1" hangingPunct="1"/>
            <a:r>
              <a:rPr lang="en-US" altLang="en-US" sz="2400">
                <a:latin typeface="Lucida Console" panose="020B0609040504020204" pitchFamily="49" charset="0"/>
              </a:rPr>
              <a:t>input</a:t>
            </a:r>
          </a:p>
          <a:p>
            <a:pPr lvl="2" eaLnBrk="1" hangingPunct="1"/>
            <a:r>
              <a:rPr lang="en-US" altLang="en-US" sz="2000"/>
              <a:t>Specifies data to provide to the script that processes the form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Forms</a:t>
            </a:r>
          </a:p>
        </p:txBody>
      </p:sp>
    </p:spTree>
    <p:extLst>
      <p:ext uri="{BB962C8B-B14F-4D97-AF65-F5344CB8AC3E}">
        <p14:creationId xmlns:p14="http://schemas.microsoft.com/office/powerpoint/2010/main" val="1647854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963" y="0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Forms</a:t>
            </a:r>
          </a:p>
        </p:txBody>
      </p:sp>
      <p:sp>
        <p:nvSpPr>
          <p:cNvPr id="71683" name="Rectangle 5"/>
          <p:cNvSpPr>
            <a:spLocks noChangeArrowheads="1"/>
          </p:cNvSpPr>
          <p:nvPr/>
        </p:nvSpPr>
        <p:spPr bwMode="auto">
          <a:xfrm>
            <a:off x="1833564" y="933450"/>
            <a:ext cx="8226425" cy="5645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&lt;!DOCTYPE html&gt;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800000"/>
                </a:solidFill>
              </a:rPr>
              <a:t>&lt;html&gt;</a:t>
            </a:r>
            <a:endParaRPr lang="en-US" altLang="en-US" sz="1600" noProof="1">
              <a:solidFill>
                <a:srgbClr val="008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meta </a:t>
            </a:r>
            <a:r>
              <a:rPr lang="en-US" altLang="en-US" sz="1600" noProof="1">
                <a:solidFill>
                  <a:srgbClr val="0000FF"/>
                </a:solidFill>
              </a:rPr>
              <a:t>charset="utf-8"&gt;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&gt;Untitled Page&lt;/</a:t>
            </a:r>
            <a:r>
              <a:rPr lang="en-US" altLang="en-US" sz="1600" noProof="1">
                <a:solidFill>
                  <a:srgbClr val="800000"/>
                </a:solidFill>
              </a:rPr>
              <a:t>title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head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h1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Feedback Form&lt;/</a:t>
            </a:r>
            <a:r>
              <a:rPr lang="en-US" altLang="en-US" sz="1600" noProof="1">
                <a:solidFill>
                  <a:srgbClr val="800000"/>
                </a:solidFill>
              </a:rPr>
              <a:t>h1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Please fill out this form to help us improve our site.&lt;/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</a:t>
            </a:r>
            <a:r>
              <a:rPr lang="en-US" altLang="en-US" sz="1600" noProof="1">
                <a:solidFill>
                  <a:srgbClr val="008000"/>
                </a:solidFill>
              </a:rPr>
              <a:t>&lt;!-- this tag starts the form, gives the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&lt;!-- method of sending information and the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&lt;!-- location of form scripts              --&gt;</a:t>
            </a:r>
            <a:endParaRPr lang="en-US" altLang="en-US" sz="160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314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0"/>
            <a:ext cx="7042150" cy="1143000"/>
          </a:xfrm>
        </p:spPr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Forms</a:t>
            </a:r>
          </a:p>
        </p:txBody>
      </p:sp>
      <p:sp>
        <p:nvSpPr>
          <p:cNvPr id="72707" name="Rectangle 5"/>
          <p:cNvSpPr>
            <a:spLocks noChangeArrowheads="1"/>
          </p:cNvSpPr>
          <p:nvPr/>
        </p:nvSpPr>
        <p:spPr bwMode="auto">
          <a:xfrm>
            <a:off x="1871664" y="855664"/>
            <a:ext cx="8226425" cy="579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form </a:t>
            </a:r>
            <a:r>
              <a:rPr lang="en-US" altLang="en-US" sz="1600" noProof="1">
                <a:solidFill>
                  <a:srgbClr val="FF0000"/>
                </a:solidFill>
              </a:rPr>
              <a:t>action</a:t>
            </a:r>
            <a:r>
              <a:rPr lang="en-US" altLang="en-US" sz="1600" noProof="1">
                <a:solidFill>
                  <a:srgbClr val="0000FF"/>
                </a:solidFill>
              </a:rPr>
              <a:t>=“formmail.html" </a:t>
            </a:r>
            <a:r>
              <a:rPr lang="en-US" altLang="en-US" sz="1600" noProof="1">
                <a:solidFill>
                  <a:srgbClr val="FF0000"/>
                </a:solidFill>
              </a:rPr>
              <a:t>method</a:t>
            </a:r>
            <a:r>
              <a:rPr lang="en-US" altLang="en-US" sz="1600" noProof="1">
                <a:solidFill>
                  <a:srgbClr val="0000FF"/>
                </a:solidFill>
              </a:rPr>
              <a:t>="post"&gt;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label</a:t>
            </a:r>
            <a:r>
              <a:rPr lang="en-US" altLang="en-US" sz="1600" noProof="1">
                <a:solidFill>
                  <a:srgbClr val="0000FF"/>
                </a:solidFill>
              </a:rPr>
              <a:t>&gt; Name: &lt;/</a:t>
            </a:r>
            <a:r>
              <a:rPr lang="en-US" altLang="en-US" sz="1600" noProof="1">
                <a:solidFill>
                  <a:srgbClr val="800000"/>
                </a:solidFill>
              </a:rPr>
              <a:t>label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input type = </a:t>
            </a:r>
            <a:r>
              <a:rPr lang="en-US" altLang="en-US" sz="1600" noProof="1">
                <a:solidFill>
                  <a:srgbClr val="0000FF"/>
                </a:solidFill>
              </a:rPr>
              <a:t>“text” </a:t>
            </a:r>
            <a:r>
              <a:rPr lang="en-US" altLang="en-US" sz="1600" noProof="1">
                <a:solidFill>
                  <a:srgbClr val="FF0000"/>
                </a:solidFill>
              </a:rPr>
              <a:t>maxlength</a:t>
            </a:r>
            <a:r>
              <a:rPr lang="en-US" altLang="en-US" sz="1600" noProof="1">
                <a:solidFill>
                  <a:srgbClr val="0000FF"/>
                </a:solidFill>
              </a:rPr>
              <a:t>="30" </a:t>
            </a:r>
            <a:r>
              <a:rPr lang="en-US" altLang="en-US" sz="1600" noProof="1">
                <a:solidFill>
                  <a:srgbClr val="FF0000"/>
                </a:solidFill>
              </a:rPr>
              <a:t>name</a:t>
            </a:r>
            <a:r>
              <a:rPr lang="en-US" altLang="en-US" sz="1600" noProof="1">
                <a:solidFill>
                  <a:srgbClr val="0000FF"/>
                </a:solidFill>
              </a:rPr>
              <a:t>=“nm" </a:t>
            </a:r>
            <a:r>
              <a:rPr lang="en-US" altLang="en-US" sz="1600" noProof="1">
                <a:solidFill>
                  <a:srgbClr val="FF0000"/>
                </a:solidFill>
              </a:rPr>
              <a:t>size</a:t>
            </a:r>
            <a:r>
              <a:rPr lang="en-US" altLang="en-US" sz="1600" noProof="1">
                <a:solidFill>
                  <a:srgbClr val="0000FF"/>
                </a:solidFill>
              </a:rPr>
              <a:t>="25" 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</a:t>
            </a:r>
            <a:r>
              <a:rPr lang="en-US" altLang="en-US" sz="1600" noProof="1">
                <a:solidFill>
                  <a:srgbClr val="008000"/>
                </a:solidFill>
              </a:rPr>
              <a:t>&lt;!-- input types "submit" and "reset" insert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&lt;!-- buttons for submitting and clearing the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&lt;!-- form's contents                          --&gt;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8000"/>
                </a:solidFill>
              </a:rPr>
              <a:t>            </a:t>
            </a:r>
            <a:r>
              <a:rPr lang="en-US" altLang="en-US" sz="1600" noProof="1">
                <a:solidFill>
                  <a:srgbClr val="0000FF"/>
                </a:solidFill>
              </a:rPr>
              <a:t>&lt;</a:t>
            </a:r>
            <a:r>
              <a:rPr lang="en-US" altLang="en-US" sz="1600" noProof="1">
                <a:solidFill>
                  <a:srgbClr val="800000"/>
                </a:solidFill>
              </a:rPr>
              <a:t>input </a:t>
            </a:r>
            <a:r>
              <a:rPr lang="en-US" altLang="en-US" sz="1600" noProof="1">
                <a:solidFill>
                  <a:srgbClr val="FF0000"/>
                </a:solidFill>
              </a:rPr>
              <a:t>type</a:t>
            </a:r>
            <a:r>
              <a:rPr lang="en-US" altLang="en-US" sz="1600" noProof="1">
                <a:solidFill>
                  <a:srgbClr val="0000FF"/>
                </a:solidFill>
              </a:rPr>
              <a:t>="submit" </a:t>
            </a:r>
            <a:r>
              <a:rPr lang="en-US" altLang="en-US" sz="1600" noProof="1">
                <a:solidFill>
                  <a:srgbClr val="FF0000"/>
                </a:solidFill>
              </a:rPr>
              <a:t>value</a:t>
            </a:r>
            <a:r>
              <a:rPr lang="en-US" altLang="en-US" sz="1600" noProof="1">
                <a:solidFill>
                  <a:srgbClr val="0000FF"/>
                </a:solidFill>
              </a:rPr>
              <a:t>="Submit Your Entries" 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    &lt;</a:t>
            </a:r>
            <a:r>
              <a:rPr lang="en-US" altLang="en-US" sz="1600" noProof="1">
                <a:solidFill>
                  <a:srgbClr val="800000"/>
                </a:solidFill>
              </a:rPr>
              <a:t>input </a:t>
            </a:r>
            <a:r>
              <a:rPr lang="en-US" altLang="en-US" sz="1600" noProof="1">
                <a:solidFill>
                  <a:srgbClr val="FF0000"/>
                </a:solidFill>
              </a:rPr>
              <a:t>type</a:t>
            </a:r>
            <a:r>
              <a:rPr lang="en-US" altLang="en-US" sz="1600" noProof="1">
                <a:solidFill>
                  <a:srgbClr val="0000FF"/>
                </a:solidFill>
              </a:rPr>
              <a:t>="reset" </a:t>
            </a:r>
            <a:r>
              <a:rPr lang="en-US" altLang="en-US" sz="1600" noProof="1">
                <a:solidFill>
                  <a:srgbClr val="FF0000"/>
                </a:solidFill>
              </a:rPr>
              <a:t>value</a:t>
            </a:r>
            <a:r>
              <a:rPr lang="en-US" altLang="en-US" sz="1600" noProof="1">
                <a:solidFill>
                  <a:srgbClr val="0000FF"/>
                </a:solidFill>
              </a:rPr>
              <a:t>="Clear Your Entries" /&gt;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    &lt;/</a:t>
            </a:r>
            <a:r>
              <a:rPr lang="en-US" altLang="en-US" sz="1600" noProof="1">
                <a:solidFill>
                  <a:srgbClr val="800000"/>
                </a:solidFill>
              </a:rPr>
              <a:t>p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    &lt;/</a:t>
            </a:r>
            <a:r>
              <a:rPr lang="en-US" altLang="en-US" sz="1600" noProof="1">
                <a:solidFill>
                  <a:srgbClr val="800000"/>
                </a:solidFill>
              </a:rPr>
              <a:t>form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body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noProof="1">
                <a:solidFill>
                  <a:srgbClr val="0000FF"/>
                </a:solidFill>
              </a:rPr>
              <a:t>&lt;/</a:t>
            </a:r>
            <a:r>
              <a:rPr lang="en-US" altLang="en-US" sz="1600" noProof="1">
                <a:solidFill>
                  <a:srgbClr val="800000"/>
                </a:solidFill>
              </a:rPr>
              <a:t>html</a:t>
            </a:r>
            <a:r>
              <a:rPr lang="en-US" altLang="en-US" sz="1600" noProof="1">
                <a:solidFill>
                  <a:srgbClr val="0000FF"/>
                </a:solidFill>
              </a:rPr>
              <a:t>&gt;</a:t>
            </a:r>
            <a:endParaRPr lang="en-US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0174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Basic Forms</a:t>
            </a:r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1585914"/>
            <a:ext cx="70929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92097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Element </a:t>
            </a:r>
            <a:r>
              <a:rPr lang="en-US" altLang="en-US" sz="1800">
                <a:latin typeface="Lucida Console" panose="020B0609040504020204" pitchFamily="49" charset="0"/>
              </a:rPr>
              <a:t>textarea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Inserts a multiline text box (text area)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Attribute </a:t>
            </a:r>
            <a:r>
              <a:rPr lang="en-US" altLang="en-US" sz="1800">
                <a:latin typeface="Lucida Console" panose="020B0609040504020204" pitchFamily="49" charset="0"/>
              </a:rPr>
              <a:t>rows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/>
              <a:t>Specifies the number of rows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Attribute </a:t>
            </a:r>
            <a:r>
              <a:rPr lang="en-US" altLang="en-US" sz="1800">
                <a:latin typeface="Lucida Console" panose="020B0609040504020204" pitchFamily="49" charset="0"/>
              </a:rPr>
              <a:t>cols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/>
              <a:t>Specifies the number columns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Input </a:t>
            </a:r>
            <a:r>
              <a:rPr lang="en-US" altLang="en-US" sz="1800">
                <a:latin typeface="Lucida Console" panose="020B0609040504020204" pitchFamily="49" charset="0"/>
              </a:rPr>
              <a:t>“password”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600"/>
              <a:t>Inserts a password box with the specified </a:t>
            </a:r>
            <a:r>
              <a:rPr lang="en-US" altLang="en-US" sz="1600">
                <a:latin typeface="Lucida Console" panose="020B0609040504020204" pitchFamily="49" charset="0"/>
              </a:rPr>
              <a:t>size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Element </a:t>
            </a:r>
            <a:r>
              <a:rPr lang="en-US" altLang="en-US" sz="2000">
                <a:latin typeface="Lucida Console" panose="020B0609040504020204" pitchFamily="49" charset="0"/>
              </a:rPr>
              <a:t>checkbox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Enable users to select from a set of options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Element </a:t>
            </a:r>
            <a:r>
              <a:rPr lang="en-US" altLang="en-US" sz="1800">
                <a:latin typeface="Lucida Console" panose="020B0609040504020204" pitchFamily="49" charset="0"/>
              </a:rPr>
              <a:t>select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Provides a drop-down list of items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/>
              <a:t>	Element </a:t>
            </a:r>
            <a:r>
              <a:rPr lang="en-US" altLang="en-US" sz="1800">
                <a:latin typeface="Lucida Console" panose="020B0609040504020204" pitchFamily="49" charset="0"/>
              </a:rPr>
              <a:t>option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Adds items to the drop-down list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More Complex Form</a:t>
            </a:r>
          </a:p>
        </p:txBody>
      </p:sp>
    </p:spTree>
    <p:extLst>
      <p:ext uri="{BB962C8B-B14F-4D97-AF65-F5344CB8AC3E}">
        <p14:creationId xmlns:p14="http://schemas.microsoft.com/office/powerpoint/2010/main" val="13125380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following form 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29E57E-968D-5A50-367D-6306E901D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Quick Review Question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15" r="39881" b="16954"/>
          <a:stretch/>
        </p:blipFill>
        <p:spPr bwMode="auto">
          <a:xfrm>
            <a:off x="3383477" y="2498501"/>
            <a:ext cx="5004962" cy="39172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4830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HTML5 structure</a:t>
            </a:r>
          </a:p>
          <a:p>
            <a:r>
              <a:rPr lang="en-US" dirty="0"/>
              <a:t>HTML5 elements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Links</a:t>
            </a:r>
          </a:p>
          <a:p>
            <a:r>
              <a:rPr lang="en-US" dirty="0"/>
              <a:t>Table</a:t>
            </a:r>
          </a:p>
          <a:p>
            <a:r>
              <a:rPr lang="en-US" dirty="0"/>
              <a:t>Form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1511F-8590-520A-A1F5-01DB253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Main Teaching Points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430540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5C284C-85CE-9069-8C22-F42EF0F5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Question and Answer Session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611562" y="2651125"/>
            <a:ext cx="496887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9600" dirty="0">
                <a:ea typeface="新細明體" pitchFamily="18" charset="-12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8612761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4A49F-7758-804C-1CFE-2DF088D1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cover next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64895176"/>
      </p:ext>
    </p:extLst>
  </p:cSld>
  <p:clrMapOvr>
    <a:masterClrMapping/>
  </p:clrMapOvr>
</p:sld>
</file>

<file path=ppt/theme/theme1.xml><?xml version="1.0" encoding="utf-8"?>
<a:theme xmlns:a="http://schemas.openxmlformats.org/drawingml/2006/main" name="1_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Pages>11</Pages>
  <Words>3608</Words>
  <Application>Microsoft Office PowerPoint</Application>
  <PresentationFormat>Widescreen</PresentationFormat>
  <Paragraphs>570</Paragraphs>
  <Slides>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Century Gothic</vt:lpstr>
      <vt:lpstr>Courier New</vt:lpstr>
      <vt:lpstr>Lucida Console</vt:lpstr>
      <vt:lpstr>Montserrat</vt:lpstr>
      <vt:lpstr>PT Sans</vt:lpstr>
      <vt:lpstr>Wingdings</vt:lpstr>
      <vt:lpstr>1_UCTI-Template-foundation-level</vt:lpstr>
      <vt:lpstr>CT050-3-2 Web Applications</vt:lpstr>
      <vt:lpstr>Topic &amp; Structure of The Lesson</vt:lpstr>
      <vt:lpstr>Learning Outcomes</vt:lpstr>
      <vt:lpstr>Key Terms You Must Be Able To Use</vt:lpstr>
      <vt:lpstr>Introduction to HTML</vt:lpstr>
      <vt:lpstr>Introduction to HTML</vt:lpstr>
      <vt:lpstr>Introduction to HTML5</vt:lpstr>
      <vt:lpstr>Introduction to HTML5</vt:lpstr>
      <vt:lpstr>Introduction to HTML5</vt:lpstr>
      <vt:lpstr>New Elements in HTML5</vt:lpstr>
      <vt:lpstr>DOCTYPE in HTML5</vt:lpstr>
      <vt:lpstr>Editing HTML5</vt:lpstr>
      <vt:lpstr>First HTML5 Example</vt:lpstr>
      <vt:lpstr>First HTML5 Example</vt:lpstr>
      <vt:lpstr>The Rules of HTML5</vt:lpstr>
      <vt:lpstr>Headers</vt:lpstr>
      <vt:lpstr>Headers</vt:lpstr>
      <vt:lpstr>Headers</vt:lpstr>
      <vt:lpstr>Linking</vt:lpstr>
      <vt:lpstr>Linking</vt:lpstr>
      <vt:lpstr>Linking</vt:lpstr>
      <vt:lpstr>Linking</vt:lpstr>
      <vt:lpstr>Linking</vt:lpstr>
      <vt:lpstr>Images</vt:lpstr>
      <vt:lpstr>Images</vt:lpstr>
      <vt:lpstr>Images</vt:lpstr>
      <vt:lpstr>Images</vt:lpstr>
      <vt:lpstr>Images</vt:lpstr>
      <vt:lpstr>Special Characters and More Line Breaks</vt:lpstr>
      <vt:lpstr>Special Characters and More Line Breaks</vt:lpstr>
      <vt:lpstr>Special Characters and More Line Breaks</vt:lpstr>
      <vt:lpstr>Special Characters and More Line Breaks</vt:lpstr>
      <vt:lpstr>Unordered Lists</vt:lpstr>
      <vt:lpstr>Unordered Lists</vt:lpstr>
      <vt:lpstr>Unordered Lists</vt:lpstr>
      <vt:lpstr>Unordered Lists</vt:lpstr>
      <vt:lpstr>Nested and Ordered Lists</vt:lpstr>
      <vt:lpstr>Nested and Ordered Lists</vt:lpstr>
      <vt:lpstr>Nested and Ordered Lists</vt:lpstr>
      <vt:lpstr>Nested and Ordered Lists</vt:lpstr>
      <vt:lpstr>Nested and Ordered Lists</vt:lpstr>
      <vt:lpstr>Nested and Ordered Lists</vt:lpstr>
      <vt:lpstr>Basic Tables</vt:lpstr>
      <vt:lpstr>Basic Tables</vt:lpstr>
      <vt:lpstr>Basic Tables</vt:lpstr>
      <vt:lpstr>Basic Tables</vt:lpstr>
      <vt:lpstr>Basic Tables</vt:lpstr>
      <vt:lpstr>Basic Tables</vt:lpstr>
      <vt:lpstr>Basic Tables</vt:lpstr>
      <vt:lpstr>Intermediate Tables and Formatting</vt:lpstr>
      <vt:lpstr>Intermediate Tables and Formatting</vt:lpstr>
      <vt:lpstr>Intermediate Tables and Formatting</vt:lpstr>
      <vt:lpstr>Intermediate Tables and Formatting</vt:lpstr>
      <vt:lpstr>Intermediate Tables and Formatting</vt:lpstr>
      <vt:lpstr>Basic Forms</vt:lpstr>
      <vt:lpstr>Basic Forms</vt:lpstr>
      <vt:lpstr>Basic Forms</vt:lpstr>
      <vt:lpstr>Basic Forms</vt:lpstr>
      <vt:lpstr>More Complex Form</vt:lpstr>
      <vt:lpstr>Quick Review Question</vt:lpstr>
      <vt:lpstr>Summary of Main Teaching Points</vt:lpstr>
      <vt:lpstr>Question and Answer Session</vt:lpstr>
      <vt:lpstr>What we will cover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MSc</dc:subject>
  <dc:creator>Mrs. Kwan (Wong Hua Hung)</dc:creator>
  <cp:lastModifiedBy>Mohamad Firdaus Che Abdul Rani</cp:lastModifiedBy>
  <cp:revision>18</cp:revision>
  <cp:lastPrinted>1995-11-02T09:23:42Z</cp:lastPrinted>
  <dcterms:created xsi:type="dcterms:W3CDTF">2017-10-11T09:20:11Z</dcterms:created>
  <dcterms:modified xsi:type="dcterms:W3CDTF">2024-04-14T08:43:11Z</dcterms:modified>
</cp:coreProperties>
</file>